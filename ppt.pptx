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7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7" r:id="rId19"/>
    <p:sldId id="273"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2" d="100"/>
          <a:sy n="62" d="100"/>
        </p:scale>
        <p:origin x="79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cat>
            <c:strRef>
              <c:f>Sheet1!$A$2:$A$5</c:f>
              <c:strCache>
                <c:ptCount val="2"/>
                <c:pt idx="0">
                  <c:v>1st Qtr</c:v>
                </c:pt>
                <c:pt idx="1">
                  <c:v>2nd Qtr</c:v>
                </c:pt>
              </c:strCache>
            </c:strRef>
          </c:cat>
          <c:val>
            <c:numRef>
              <c:f>Sheet1!$B$2:$B$5</c:f>
              <c:numCache>
                <c:formatCode>General</c:formatCode>
                <c:ptCount val="2"/>
                <c:pt idx="0">
                  <c:v>61.7</c:v>
                </c:pt>
                <c:pt idx="1">
                  <c:v>38.299999999999997</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Sales</c:v>
                      </c:pt>
                    </c:strCache>
                  </c:strRef>
                </c15:tx>
              </c15:filteredSeriesTitle>
            </c:ext>
            <c:ext xmlns:c15="http://schemas.microsoft.com/office/drawing/2012/chart" uri="{02D57815-91ED-43cb-92C2-25804820EDAC}">
              <c15:categoryFilterExceptions/>
            </c:ext>
            <c:ext xmlns:c16="http://schemas.microsoft.com/office/drawing/2014/chart" uri="{C3380CC4-5D6E-409C-BE32-E72D297353CC}">
              <c16:uniqueId val="{00000000-1122-470B-9232-24CD3C1E922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BMI RANGE</c:v>
                </c:pt>
              </c:strCache>
            </c:strRef>
          </c:tx>
          <c:dPt>
            <c:idx val="0"/>
            <c:bubble3D val="0"/>
            <c:spPr>
              <a:solidFill>
                <a:schemeClr val="accent1"/>
              </a:solidFill>
              <a:ln w="25400">
                <a:solidFill>
                  <a:schemeClr val="lt1"/>
                </a:solidFill>
              </a:ln>
              <a:effectLst/>
              <a:sp3d contourW="25400">
                <a:contourClr>
                  <a:schemeClr val="lt1"/>
                </a:contourClr>
              </a:sp3d>
            </c:spPr>
          </c:dPt>
          <c:dPt>
            <c:idx val="1"/>
            <c:bubble3D val="0"/>
            <c:spPr>
              <a:solidFill>
                <a:schemeClr val="accent2"/>
              </a:solidFill>
              <a:ln w="25400">
                <a:solidFill>
                  <a:schemeClr val="lt1"/>
                </a:solidFill>
              </a:ln>
              <a:effectLst/>
              <a:sp3d contourW="25400">
                <a:contourClr>
                  <a:schemeClr val="lt1"/>
                </a:contourClr>
              </a:sp3d>
            </c:spPr>
          </c:dPt>
          <c:cat>
            <c:strRef>
              <c:f>Sheet1!$A$2:$A$5</c:f>
              <c:strCache>
                <c:ptCount val="2"/>
                <c:pt idx="0">
                  <c:v>1st Qtr</c:v>
                </c:pt>
                <c:pt idx="1">
                  <c:v>2nd Qtr</c:v>
                </c:pt>
              </c:strCache>
            </c:strRef>
          </c:cat>
          <c:val>
            <c:numRef>
              <c:f>Sheet1!$B$2:$B$5</c:f>
              <c:numCache>
                <c:formatCode>General</c:formatCode>
                <c:ptCount val="2"/>
                <c:pt idx="0">
                  <c:v>59</c:v>
                </c:pt>
                <c:pt idx="1">
                  <c:v>41</c:v>
                </c:pt>
              </c:numCache>
            </c:numRef>
          </c:val>
          <c:extLst>
            <c:ext xmlns:c15="http://schemas.microsoft.com/office/drawing/2012/chart" uri="{02D57815-91ED-43cb-92C2-25804820EDAC}">
              <c15:categoryFilterExceptions/>
            </c:ext>
            <c:ext xmlns:c16="http://schemas.microsoft.com/office/drawing/2014/chart" uri="{C3380CC4-5D6E-409C-BE32-E72D297353CC}">
              <c16:uniqueId val="{00000000-64F5-4FDB-ACE6-BA7A5CF74D08}"/>
            </c:ext>
          </c:extLst>
        </c:ser>
        <c:dLbls>
          <c:showLegendKey val="0"/>
          <c:showVal val="0"/>
          <c:showCatName val="0"/>
          <c:showSerName val="0"/>
          <c:showPercent val="0"/>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CLUSTERS</c:v>
                </c:pt>
              </c:strCache>
            </c:strRef>
          </c:tx>
          <c:dPt>
            <c:idx val="0"/>
            <c:bubble3D val="0"/>
            <c:spPr>
              <a:solidFill>
                <a:schemeClr val="accent2"/>
              </a:solidFill>
              <a:ln w="19050">
                <a:solidFill>
                  <a:schemeClr val="lt1"/>
                </a:solidFill>
              </a:ln>
              <a:effectLst/>
            </c:spPr>
          </c:dPt>
          <c:dPt>
            <c:idx val="1"/>
            <c:bubble3D val="0"/>
            <c:spPr>
              <a:solidFill>
                <a:schemeClr val="accent4"/>
              </a:solidFill>
              <a:ln w="19050">
                <a:solidFill>
                  <a:schemeClr val="lt1"/>
                </a:solidFill>
              </a:ln>
              <a:effectLst/>
            </c:spPr>
          </c:dPt>
          <c:dPt>
            <c:idx val="2"/>
            <c:bubble3D val="0"/>
            <c:spPr>
              <a:solidFill>
                <a:schemeClr val="accent6"/>
              </a:solidFill>
              <a:ln w="19050">
                <a:solidFill>
                  <a:schemeClr val="lt1"/>
                </a:solidFill>
              </a:ln>
              <a:effectLst/>
            </c:spPr>
          </c:dPt>
          <c:dPt>
            <c:idx val="3"/>
            <c:bubble3D val="0"/>
            <c:spPr>
              <a:solidFill>
                <a:schemeClr val="accent2">
                  <a:lumMod val="60000"/>
                </a:schemeClr>
              </a:solidFill>
              <a:ln w="19050">
                <a:solidFill>
                  <a:schemeClr val="lt1"/>
                </a:solidFill>
              </a:ln>
              <a:effectLst/>
            </c:spPr>
          </c:dPt>
          <c:cat>
            <c:numRef>
              <c:f>Sheet1!$A$2:$A$5</c:f>
              <c:numCache>
                <c:formatCode>General</c:formatCode>
                <c:ptCount val="4"/>
                <c:pt idx="0">
                  <c:v>0</c:v>
                </c:pt>
                <c:pt idx="1">
                  <c:v>1</c:v>
                </c:pt>
              </c:numCache>
            </c:numRef>
          </c:cat>
          <c:val>
            <c:numRef>
              <c:f>Sheet1!$B$2:$B$5</c:f>
              <c:numCache>
                <c:formatCode>General</c:formatCode>
                <c:ptCount val="4"/>
                <c:pt idx="0">
                  <c:v>6813</c:v>
                </c:pt>
                <c:pt idx="1">
                  <c:v>4895</c:v>
                </c:pt>
                <c:pt idx="2">
                  <c:v>4264</c:v>
                </c:pt>
              </c:numCache>
            </c:numRef>
          </c:val>
          <c:extLst>
            <c:ext xmlns:c16="http://schemas.microsoft.com/office/drawing/2014/chart" uri="{C3380CC4-5D6E-409C-BE32-E72D297353CC}">
              <c16:uniqueId val="{00000000-11CD-4B58-A863-F91EF2410ED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3E8B58-8ECF-47C7-BDAC-058B63C505CE}" type="doc">
      <dgm:prSet loTypeId="urn:microsoft.com/office/officeart/2005/8/layout/chart3" loCatId="cycle" qsTypeId="urn:microsoft.com/office/officeart/2005/8/quickstyle/simple1" qsCatId="simple" csTypeId="urn:microsoft.com/office/officeart/2005/8/colors/accent1_2" csCatId="accent1" phldr="1"/>
      <dgm:spPr/>
      <dgm:t>
        <a:bodyPr/>
        <a:lstStyle/>
        <a:p>
          <a:endParaRPr lang="en-IN"/>
        </a:p>
      </dgm:t>
    </dgm:pt>
    <dgm:pt modelId="{8DB40C66-54EA-4DE7-B1BE-4A27DC502FD6}" type="pres">
      <dgm:prSet presAssocID="{A73E8B58-8ECF-47C7-BDAC-058B63C505CE}" presName="compositeShape" presStyleCnt="0">
        <dgm:presLayoutVars>
          <dgm:chMax val="7"/>
          <dgm:dir/>
          <dgm:resizeHandles val="exact"/>
        </dgm:presLayoutVars>
      </dgm:prSet>
      <dgm:spPr/>
    </dgm:pt>
  </dgm:ptLst>
  <dgm:cxnLst>
    <dgm:cxn modelId="{A0FFDC70-2DD8-4F6E-981C-8CD2259AB1F9}" type="presOf" srcId="{A73E8B58-8ECF-47C7-BDAC-058B63C505CE}" destId="{8DB40C66-54EA-4DE7-B1BE-4A27DC502FD6}" srcOrd="0"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0.90407</cdr:x>
      <cdr:y>0.57252</cdr:y>
    </cdr:from>
    <cdr:to>
      <cdr:x>0.94073</cdr:x>
      <cdr:y>0.61803</cdr:y>
    </cdr:to>
    <cdr:sp macro="" textlink="">
      <cdr:nvSpPr>
        <cdr:cNvPr id="2" name="Rectangle: Beveled 1">
          <a:extLst xmlns:a="http://schemas.openxmlformats.org/drawingml/2006/main">
            <a:ext uri="{FF2B5EF4-FFF2-40B4-BE49-F238E27FC236}">
              <a16:creationId xmlns:a16="http://schemas.microsoft.com/office/drawing/2014/main" id="{4CC1A261-D5F4-49D5-0E25-4864A0C90275}"/>
            </a:ext>
          </a:extLst>
        </cdr:cNvPr>
        <cdr:cNvSpPr/>
      </cdr:nvSpPr>
      <cdr:spPr>
        <a:xfrm xmlns:a="http://schemas.openxmlformats.org/drawingml/2006/main">
          <a:off x="7348305" y="3102320"/>
          <a:ext cx="297951" cy="246580"/>
        </a:xfrm>
        <a:prstGeom xmlns:a="http://schemas.openxmlformats.org/drawingml/2006/main" prst="bevel">
          <a:avLst/>
        </a:prstGeom>
        <a:solidFill xmlns:a="http://schemas.openxmlformats.org/drawingml/2006/main">
          <a:schemeClr val="accent6">
            <a:lumMod val="60000"/>
            <a:lumOff val="40000"/>
          </a:schemeClr>
        </a:solidFill>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IN"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BA1AE0-31B5-4015-B56B-01FBA7E4D440}" type="datetimeFigureOut">
              <a:rPr lang="en-IN" smtClean="0"/>
              <a:t>18-11-2025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4F10D4-4540-4A89-85C4-1C6968431495}" type="slidenum">
              <a:rPr lang="en-IN" smtClean="0"/>
              <a:t>‹#›</a:t>
            </a:fld>
            <a:endParaRPr lang="en-IN"/>
          </a:p>
        </p:txBody>
      </p:sp>
    </p:spTree>
    <p:extLst>
      <p:ext uri="{BB962C8B-B14F-4D97-AF65-F5344CB8AC3E}">
        <p14:creationId xmlns:p14="http://schemas.microsoft.com/office/powerpoint/2010/main" val="3794090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A549A-B1DD-A394-7093-DE87B46057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FAB15E-2898-E208-C4D0-300DEE46ED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B91C67-EBB2-FF7B-16F6-E4B587DD05D3}"/>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5" name="Footer Placeholder 4">
            <a:extLst>
              <a:ext uri="{FF2B5EF4-FFF2-40B4-BE49-F238E27FC236}">
                <a16:creationId xmlns:a16="http://schemas.microsoft.com/office/drawing/2014/main" id="{3A4345E9-8C14-6C7E-AFA4-0487A5196D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F57B79-D038-AF98-175F-924E8ADD237D}"/>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4159704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E86A6-8FCD-BBC3-0D1E-9FED7EF74F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D949B3-9B64-5D93-0856-AB5F7E2818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1373BF-0718-6847-ABE1-A46140673FE9}"/>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5" name="Footer Placeholder 4">
            <a:extLst>
              <a:ext uri="{FF2B5EF4-FFF2-40B4-BE49-F238E27FC236}">
                <a16:creationId xmlns:a16="http://schemas.microsoft.com/office/drawing/2014/main" id="{F73F811E-7F03-8194-41D9-1DC409F344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C08506-1969-1F7B-8899-143551817DD5}"/>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3432674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D7C33-6CBF-84AC-2AC1-DEE042790A0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F6374C8-8623-6661-F173-FCE61BED57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61325A-C166-AA63-E987-0BBE12BD4113}"/>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5" name="Footer Placeholder 4">
            <a:extLst>
              <a:ext uri="{FF2B5EF4-FFF2-40B4-BE49-F238E27FC236}">
                <a16:creationId xmlns:a16="http://schemas.microsoft.com/office/drawing/2014/main" id="{57B90BF1-F2D7-C8AB-51C9-2075E479CF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AF5121-CA5D-2334-0554-09CEAE16A055}"/>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3686362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2F80C-057E-17F3-1D0A-FD6A389083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31A82F-047B-C1D3-1B13-C4F5FB1BB0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8B29CF4-8AF2-F35C-7E29-2678B0BBD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7584D8-204E-E917-BAAF-8B2EB6BE7BD5}"/>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6" name="Footer Placeholder 5">
            <a:extLst>
              <a:ext uri="{FF2B5EF4-FFF2-40B4-BE49-F238E27FC236}">
                <a16:creationId xmlns:a16="http://schemas.microsoft.com/office/drawing/2014/main" id="{A6463026-806C-9745-5D40-01AE8A890D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7C3B74-0931-54AB-1E6A-229E5BD5AA58}"/>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540279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6188D-EAA2-86DE-9B10-8929471712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014FC-5F04-6298-345F-9639D68EF7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48124A-74F4-3E92-8CFF-6AB7600334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1D497BD-7075-369B-CB31-0407E917F0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C0A236-DE5F-1386-9628-FED5A9ECFB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737F68-7659-C0DB-E370-0534BCFB74BF}"/>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8" name="Footer Placeholder 7">
            <a:extLst>
              <a:ext uri="{FF2B5EF4-FFF2-40B4-BE49-F238E27FC236}">
                <a16:creationId xmlns:a16="http://schemas.microsoft.com/office/drawing/2014/main" id="{B77CDA77-F9C4-979A-C499-2A1137FF34F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5ACEAA2-36FD-2A12-069E-2245E6E2B981}"/>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3913649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DE196-2EC9-11BE-7D80-3489D253D7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BF476B8-C47F-75D7-5D1F-AB524BD1535E}"/>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4" name="Footer Placeholder 3">
            <a:extLst>
              <a:ext uri="{FF2B5EF4-FFF2-40B4-BE49-F238E27FC236}">
                <a16:creationId xmlns:a16="http://schemas.microsoft.com/office/drawing/2014/main" id="{09A57A15-5259-6040-4322-42BDFA0DA7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143F328-771A-A4BA-ACDB-90CAA0BD3798}"/>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5294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D45D2D-4613-74CB-5F44-FC65E703B3C2}"/>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3" name="Footer Placeholder 2">
            <a:extLst>
              <a:ext uri="{FF2B5EF4-FFF2-40B4-BE49-F238E27FC236}">
                <a16:creationId xmlns:a16="http://schemas.microsoft.com/office/drawing/2014/main" id="{84DBE320-9428-F51E-C406-A37BFF3D36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A7107A-3E3B-3117-CCEE-80EC44A65273}"/>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2218739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920D3-CD08-3D9A-D92F-BE22D65DF8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610F00-1B7E-2EC8-316B-A4D98E1ACF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77AEEC-4C44-B988-6D9A-658ADA99D7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2B13D-52B9-C4AD-302F-2889DA9E08FC}"/>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6" name="Footer Placeholder 5">
            <a:extLst>
              <a:ext uri="{FF2B5EF4-FFF2-40B4-BE49-F238E27FC236}">
                <a16:creationId xmlns:a16="http://schemas.microsoft.com/office/drawing/2014/main" id="{82303ACF-ADDF-462D-D321-6C3C924237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E59B05-8EDC-343B-8524-CB5EB4BBC4FF}"/>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3912234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2620B-2F17-7CD2-5131-3A9593BAB5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0CCA63-8ADA-FDBA-8188-1E5BD5814C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4FCA04-52A7-7A72-C3D1-34BC8ADA48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3AF77C-5F12-B3FB-3F2D-7E424982C6C8}"/>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6" name="Footer Placeholder 5">
            <a:extLst>
              <a:ext uri="{FF2B5EF4-FFF2-40B4-BE49-F238E27FC236}">
                <a16:creationId xmlns:a16="http://schemas.microsoft.com/office/drawing/2014/main" id="{09EC1D18-843F-D486-1B98-F7034F8C8A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A9BDC-6E28-B66E-AE14-5634C09405C9}"/>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1489362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E4180-066B-54D0-919C-988909DC31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311605-6732-300C-2DAE-D139D74ADA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467F3A-1C8F-8DD5-BD75-5044513373BB}"/>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5" name="Footer Placeholder 4">
            <a:extLst>
              <a:ext uri="{FF2B5EF4-FFF2-40B4-BE49-F238E27FC236}">
                <a16:creationId xmlns:a16="http://schemas.microsoft.com/office/drawing/2014/main" id="{4E519985-A7CB-46F8-B9D5-C85BF05EA5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89261F-90F3-9ADF-CF3F-48D239CA0E7A}"/>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837405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FA3F00-83CE-644A-0721-CEFF3D8CEC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4B74B8-382E-3154-F836-B9E481431B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A0327C-E4F2-E0CE-A15E-928C2C5252AD}"/>
              </a:ext>
            </a:extLst>
          </p:cNvPr>
          <p:cNvSpPr>
            <a:spLocks noGrp="1"/>
          </p:cNvSpPr>
          <p:nvPr>
            <p:ph type="dt" sz="half" idx="10"/>
          </p:nvPr>
        </p:nvSpPr>
        <p:spPr/>
        <p:txBody>
          <a:bodyPr/>
          <a:lstStyle/>
          <a:p>
            <a:fld id="{E0D0D385-0C73-467B-ABF1-AC537D6D94FC}" type="datetimeFigureOut">
              <a:rPr lang="en-IN" smtClean="0"/>
              <a:t>18-11-2025</a:t>
            </a:fld>
            <a:endParaRPr lang="en-IN"/>
          </a:p>
        </p:txBody>
      </p:sp>
      <p:sp>
        <p:nvSpPr>
          <p:cNvPr id="5" name="Footer Placeholder 4">
            <a:extLst>
              <a:ext uri="{FF2B5EF4-FFF2-40B4-BE49-F238E27FC236}">
                <a16:creationId xmlns:a16="http://schemas.microsoft.com/office/drawing/2014/main" id="{CAE5E02C-31E5-4FE8-092D-E5E67ABFFE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0B08F-A7C0-E479-6331-F403BB162ED8}"/>
              </a:ext>
            </a:extLst>
          </p:cNvPr>
          <p:cNvSpPr>
            <a:spLocks noGrp="1"/>
          </p:cNvSpPr>
          <p:nvPr>
            <p:ph type="sldNum" sz="quarter" idx="12"/>
          </p:nvPr>
        </p:nvSpPr>
        <p:spPr/>
        <p:txBody>
          <a:bodyPr/>
          <a:lstStyle/>
          <a:p>
            <a:fld id="{7308216F-C29F-48F1-B9AE-E894E339144A}" type="slidenum">
              <a:rPr lang="en-IN" smtClean="0"/>
              <a:t>‹#›</a:t>
            </a:fld>
            <a:endParaRPr lang="en-IN"/>
          </a:p>
        </p:txBody>
      </p:sp>
    </p:spTree>
    <p:extLst>
      <p:ext uri="{BB962C8B-B14F-4D97-AF65-F5344CB8AC3E}">
        <p14:creationId xmlns:p14="http://schemas.microsoft.com/office/powerpoint/2010/main" val="557189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E1A110-0287-29B7-30D2-6AA06F9C3D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9BC061-0CA6-5C89-3062-D60BAE8042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D39C67-B0FD-D4BE-8CE4-0C7C409C2F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D0D385-0C73-467B-ABF1-AC537D6D94FC}" type="datetimeFigureOut">
              <a:rPr lang="en-IN" smtClean="0"/>
              <a:t>18-11-2025</a:t>
            </a:fld>
            <a:endParaRPr lang="en-IN"/>
          </a:p>
        </p:txBody>
      </p:sp>
      <p:sp>
        <p:nvSpPr>
          <p:cNvPr id="5" name="Footer Placeholder 4">
            <a:extLst>
              <a:ext uri="{FF2B5EF4-FFF2-40B4-BE49-F238E27FC236}">
                <a16:creationId xmlns:a16="http://schemas.microsoft.com/office/drawing/2014/main" id="{68BC8F77-DC6A-ADA8-81F3-5B37C91373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1C78FD7-356B-B237-98E6-37D9F0CE79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08216F-C29F-48F1-B9AE-E894E339144A}" type="slidenum">
              <a:rPr lang="en-IN" smtClean="0"/>
              <a:t>‹#›</a:t>
            </a:fld>
            <a:endParaRPr lang="en-IN"/>
          </a:p>
        </p:txBody>
      </p:sp>
    </p:spTree>
    <p:extLst>
      <p:ext uri="{BB962C8B-B14F-4D97-AF65-F5344CB8AC3E}">
        <p14:creationId xmlns:p14="http://schemas.microsoft.com/office/powerpoint/2010/main" val="3100948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chart" Target="../charts/char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1A6EC-43D9-96A5-DD96-C850715B885A}"/>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4E1931F0-5884-C820-84D6-24B0A01BDEAD}"/>
              </a:ext>
            </a:extLst>
          </p:cNvPr>
          <p:cNvSpPr>
            <a:spLocks noGrp="1"/>
          </p:cNvSpPr>
          <p:nvPr>
            <p:ph type="subTitle" idx="1"/>
          </p:nvPr>
        </p:nvSpPr>
        <p:spPr/>
        <p:txBody>
          <a:bodyPr/>
          <a:lstStyle/>
          <a:p>
            <a:endParaRPr lang="en-IN"/>
          </a:p>
        </p:txBody>
      </p:sp>
      <p:pic>
        <p:nvPicPr>
          <p:cNvPr id="5" name="Picture 4">
            <a:extLst>
              <a:ext uri="{FF2B5EF4-FFF2-40B4-BE49-F238E27FC236}">
                <a16:creationId xmlns:a16="http://schemas.microsoft.com/office/drawing/2014/main" id="{A7D2D824-07D7-9D6F-F259-0CD4C018F9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E65C515B-756C-BC82-93A6-A76296C5ED38}"/>
              </a:ext>
            </a:extLst>
          </p:cNvPr>
          <p:cNvSpPr txBox="1"/>
          <p:nvPr/>
        </p:nvSpPr>
        <p:spPr>
          <a:xfrm>
            <a:off x="3441940" y="508958"/>
            <a:ext cx="8203720" cy="3323987"/>
          </a:xfrm>
          <a:prstGeom prst="rect">
            <a:avLst/>
          </a:prstGeom>
          <a:noFill/>
        </p:spPr>
        <p:txBody>
          <a:bodyPr wrap="square" rtlCol="0">
            <a:spAutoFit/>
          </a:bodyPr>
          <a:lstStyle/>
          <a:p>
            <a:r>
              <a:rPr lang="en-IN" sz="4800" b="1" dirty="0">
                <a:solidFill>
                  <a:schemeClr val="accent6">
                    <a:lumMod val="50000"/>
                  </a:schemeClr>
                </a:solidFill>
                <a:latin typeface="Times New Roman" panose="02020603050405020304" pitchFamily="18" charset="0"/>
                <a:cs typeface="Times New Roman" panose="02020603050405020304" pitchFamily="18" charset="0"/>
              </a:rPr>
              <a:t>Holistic Lifestyle Patterns and Wellbeing Across Adults </a:t>
            </a:r>
          </a:p>
          <a:p>
            <a:r>
              <a:rPr lang="en-IN" sz="2400" dirty="0"/>
              <a:t>                                                                         </a:t>
            </a:r>
          </a:p>
          <a:p>
            <a:r>
              <a:rPr lang="en-IN" sz="2400" dirty="0"/>
              <a:t>                                                           </a:t>
            </a:r>
            <a:r>
              <a:rPr lang="en-IN" sz="2400" b="1" dirty="0">
                <a:solidFill>
                  <a:schemeClr val="accent6">
                    <a:lumMod val="50000"/>
                  </a:schemeClr>
                </a:solidFill>
                <a:latin typeface="Times New Roman" panose="02020603050405020304" pitchFamily="18" charset="0"/>
                <a:cs typeface="Times New Roman" panose="02020603050405020304" pitchFamily="18" charset="0"/>
              </a:rPr>
              <a:t>Presented By:</a:t>
            </a:r>
          </a:p>
          <a:p>
            <a:r>
              <a:rPr lang="en-IN" sz="2400" b="1" dirty="0">
                <a:solidFill>
                  <a:schemeClr val="accent6">
                    <a:lumMod val="50000"/>
                  </a:schemeClr>
                </a:solidFill>
                <a:latin typeface="Times New Roman" panose="02020603050405020304" pitchFamily="18" charset="0"/>
                <a:cs typeface="Times New Roman" panose="02020603050405020304" pitchFamily="18" charset="0"/>
              </a:rPr>
              <a:t>                                                     Potla Manasvi Reddy, </a:t>
            </a:r>
          </a:p>
          <a:p>
            <a:r>
              <a:rPr lang="en-IN" sz="2400" b="1" dirty="0">
                <a:solidFill>
                  <a:schemeClr val="accent6">
                    <a:lumMod val="50000"/>
                  </a:schemeClr>
                </a:solidFill>
                <a:latin typeface="Times New Roman" panose="02020603050405020304" pitchFamily="18" charset="0"/>
                <a:cs typeface="Times New Roman" panose="02020603050405020304" pitchFamily="18" charset="0"/>
              </a:rPr>
              <a:t>                                                     Monica Tejaswi Kommareddy</a:t>
            </a:r>
          </a:p>
          <a:p>
            <a:endParaRPr lang="en-IN" dirty="0"/>
          </a:p>
        </p:txBody>
      </p:sp>
    </p:spTree>
    <p:extLst>
      <p:ext uri="{BB962C8B-B14F-4D97-AF65-F5344CB8AC3E}">
        <p14:creationId xmlns:p14="http://schemas.microsoft.com/office/powerpoint/2010/main" val="1715305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4DF6-DB66-0323-4FA5-10B6B641F8FE}"/>
              </a:ext>
            </a:extLst>
          </p:cNvPr>
          <p:cNvSpPr>
            <a:spLocks noGrp="1"/>
          </p:cNvSpPr>
          <p:nvPr>
            <p:ph type="title"/>
          </p:nvPr>
        </p:nvSpPr>
        <p:spPr/>
        <p:txBody>
          <a:bodyPr>
            <a:normAutofit/>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Research Question:</a:t>
            </a:r>
          </a:p>
        </p:txBody>
      </p:sp>
      <p:sp>
        <p:nvSpPr>
          <p:cNvPr id="5" name="TextBox 4">
            <a:extLst>
              <a:ext uri="{FF2B5EF4-FFF2-40B4-BE49-F238E27FC236}">
                <a16:creationId xmlns:a16="http://schemas.microsoft.com/office/drawing/2014/main" id="{F2003D8C-2D35-3A6C-E7E4-80F6EBDBA474}"/>
              </a:ext>
            </a:extLst>
          </p:cNvPr>
          <p:cNvSpPr txBox="1"/>
          <p:nvPr/>
        </p:nvSpPr>
        <p:spPr>
          <a:xfrm>
            <a:off x="838200" y="2692904"/>
            <a:ext cx="10515600" cy="1815882"/>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To what extent can a combination of lifestyle behaviors such as diet, physical activity, sleep habits, stress management, and social interaction, along with demographic factors like age and gender, help predict overall wellbeing and life satisfaction in adults?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0900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0E45B-AB84-FAA3-0EE0-D8D5C454A122}"/>
              </a:ext>
            </a:extLst>
          </p:cNvPr>
          <p:cNvSpPr>
            <a:spLocks noGrp="1"/>
          </p:cNvSpPr>
          <p:nvPr>
            <p:ph type="title"/>
          </p:nvPr>
        </p:nvSpPr>
        <p:spPr/>
        <p:txBody>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Guiding Framework</a:t>
            </a:r>
            <a:r>
              <a:rPr lang="en-IN" b="1" u="sng" dirty="0">
                <a:solidFill>
                  <a:schemeClr val="accent6">
                    <a:lumMod val="50000"/>
                  </a:schemeClr>
                </a:solidFill>
              </a:rPr>
              <a:t>:</a:t>
            </a:r>
            <a:br>
              <a:rPr lang="en-IN" b="1" u="sng" dirty="0"/>
            </a:br>
            <a:endParaRPr lang="en-IN" u="sng" dirty="0"/>
          </a:p>
        </p:txBody>
      </p:sp>
      <p:sp>
        <p:nvSpPr>
          <p:cNvPr id="7" name="TextBox 6">
            <a:extLst>
              <a:ext uri="{FF2B5EF4-FFF2-40B4-BE49-F238E27FC236}">
                <a16:creationId xmlns:a16="http://schemas.microsoft.com/office/drawing/2014/main" id="{B5602A6D-E2ED-DFC3-27B2-66BAB92D0BE3}"/>
              </a:ext>
            </a:extLst>
          </p:cNvPr>
          <p:cNvSpPr txBox="1"/>
          <p:nvPr/>
        </p:nvSpPr>
        <p:spPr>
          <a:xfrm>
            <a:off x="838200" y="1499192"/>
            <a:ext cx="10515599" cy="4524315"/>
          </a:xfrm>
          <a:prstGeom prst="rect">
            <a:avLst/>
          </a:prstGeom>
          <a:noFill/>
        </p:spPr>
        <p:txBody>
          <a:bodyPr wrap="square">
            <a:spAutoFit/>
          </a:bodyPr>
          <a:lstStyle/>
          <a:p>
            <a:pPr lvl="0"/>
            <a:r>
              <a:rPr lang="en-IN" sz="2400" b="1" dirty="0">
                <a:latin typeface="Times New Roman" panose="02020603050405020304" pitchFamily="18" charset="0"/>
                <a:cs typeface="Times New Roman" panose="02020603050405020304" pitchFamily="18" charset="0"/>
              </a:rPr>
              <a:t>Positive Psychology:</a:t>
            </a:r>
            <a:r>
              <a:rPr lang="en-IN" sz="2400" dirty="0">
                <a:latin typeface="Times New Roman" panose="02020603050405020304" pitchFamily="18" charset="0"/>
                <a:cs typeface="Times New Roman" panose="02020603050405020304" pitchFamily="18" charset="0"/>
              </a:rPr>
              <a:t> Focuses on improving wellbeing through consistent habit formation.</a:t>
            </a:r>
          </a:p>
          <a:p>
            <a:pPr lvl="0"/>
            <a:r>
              <a:rPr lang="en-IN" sz="2400" b="1" dirty="0" err="1">
                <a:latin typeface="Times New Roman" panose="02020603050405020304" pitchFamily="18" charset="0"/>
                <a:cs typeface="Times New Roman" panose="02020603050405020304" pitchFamily="18" charset="0"/>
              </a:rPr>
              <a:t>Behavioral</a:t>
            </a:r>
            <a:r>
              <a:rPr lang="en-IN" sz="2400" b="1" dirty="0">
                <a:latin typeface="Times New Roman" panose="02020603050405020304" pitchFamily="18" charset="0"/>
                <a:cs typeface="Times New Roman" panose="02020603050405020304" pitchFamily="18" charset="0"/>
              </a:rPr>
              <a:t> Science:</a:t>
            </a:r>
            <a:r>
              <a:rPr lang="en-IN" sz="2400" dirty="0">
                <a:latin typeface="Times New Roman" panose="02020603050405020304" pitchFamily="18" charset="0"/>
                <a:cs typeface="Times New Roman" panose="02020603050405020304" pitchFamily="18" charset="0"/>
              </a:rPr>
              <a:t> Considers lifestyle choices as predictors of life satisfaction.</a:t>
            </a:r>
          </a:p>
          <a:p>
            <a:pPr lvl="0"/>
            <a:r>
              <a:rPr lang="en-IN" sz="2400" b="1" dirty="0">
                <a:latin typeface="Times New Roman" panose="02020603050405020304" pitchFamily="18" charset="0"/>
                <a:cs typeface="Times New Roman" panose="02020603050405020304" pitchFamily="18" charset="0"/>
              </a:rPr>
              <a:t>Public Health Principles:</a:t>
            </a:r>
            <a:r>
              <a:rPr lang="en-IN" sz="2400" dirty="0">
                <a:latin typeface="Times New Roman" panose="02020603050405020304" pitchFamily="18" charset="0"/>
                <a:cs typeface="Times New Roman" panose="02020603050405020304" pitchFamily="18" charset="0"/>
              </a:rPr>
              <a:t> Supports preventative strategies to improve quality of life.</a:t>
            </a:r>
          </a:p>
          <a:p>
            <a:pPr lvl="0"/>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Dimensions of Wellbeing:</a:t>
            </a:r>
            <a:endParaRPr lang="en-IN" sz="2400" dirty="0">
              <a:latin typeface="Times New Roman" panose="02020603050405020304" pitchFamily="18" charset="0"/>
              <a:cs typeface="Times New Roman" panose="02020603050405020304" pitchFamily="18" charset="0"/>
            </a:endParaRPr>
          </a:p>
          <a:p>
            <a:pPr lvl="0"/>
            <a:r>
              <a:rPr lang="en-IN" sz="2400" i="1" dirty="0">
                <a:latin typeface="Times New Roman" panose="02020603050405020304" pitchFamily="18" charset="0"/>
                <a:cs typeface="Times New Roman" panose="02020603050405020304" pitchFamily="18" charset="0"/>
              </a:rPr>
              <a:t>Healthy Body</a:t>
            </a:r>
            <a:r>
              <a:rPr lang="en-IN" sz="2400" dirty="0">
                <a:latin typeface="Times New Roman" panose="02020603050405020304" pitchFamily="18" charset="0"/>
                <a:cs typeface="Times New Roman" panose="02020603050405020304" pitchFamily="18" charset="0"/>
              </a:rPr>
              <a:t> – exercise and nutrition</a:t>
            </a:r>
          </a:p>
          <a:p>
            <a:pPr lvl="0"/>
            <a:r>
              <a:rPr lang="en-IN" sz="2400" i="1" dirty="0">
                <a:latin typeface="Times New Roman" panose="02020603050405020304" pitchFamily="18" charset="0"/>
                <a:cs typeface="Times New Roman" panose="02020603050405020304" pitchFamily="18" charset="0"/>
              </a:rPr>
              <a:t>Healthy Mind</a:t>
            </a:r>
            <a:r>
              <a:rPr lang="en-IN" sz="2400" dirty="0">
                <a:latin typeface="Times New Roman" panose="02020603050405020304" pitchFamily="18" charset="0"/>
                <a:cs typeface="Times New Roman" panose="02020603050405020304" pitchFamily="18" charset="0"/>
              </a:rPr>
              <a:t> – stress management and sleep quality</a:t>
            </a:r>
          </a:p>
          <a:p>
            <a:pPr lvl="0"/>
            <a:r>
              <a:rPr lang="en-IN" sz="2400" i="1" dirty="0">
                <a:latin typeface="Times New Roman" panose="02020603050405020304" pitchFamily="18" charset="0"/>
                <a:cs typeface="Times New Roman" panose="02020603050405020304" pitchFamily="18" charset="0"/>
              </a:rPr>
              <a:t>Connection</a:t>
            </a:r>
            <a:r>
              <a:rPr lang="en-IN" sz="2400" dirty="0">
                <a:latin typeface="Times New Roman" panose="02020603050405020304" pitchFamily="18" charset="0"/>
                <a:cs typeface="Times New Roman" panose="02020603050405020304" pitchFamily="18" charset="0"/>
              </a:rPr>
              <a:t> – social relationships and impact</a:t>
            </a:r>
          </a:p>
          <a:p>
            <a:pPr lvl="0"/>
            <a:r>
              <a:rPr lang="en-IN" sz="2400" i="1" dirty="0">
                <a:latin typeface="Times New Roman" panose="02020603050405020304" pitchFamily="18" charset="0"/>
                <a:cs typeface="Times New Roman" panose="02020603050405020304" pitchFamily="18" charset="0"/>
              </a:rPr>
              <a:t>Expertise</a:t>
            </a:r>
            <a:r>
              <a:rPr lang="en-IN" sz="2400" dirty="0">
                <a:latin typeface="Times New Roman" panose="02020603050405020304" pitchFamily="18" charset="0"/>
                <a:cs typeface="Times New Roman" panose="02020603050405020304" pitchFamily="18" charset="0"/>
              </a:rPr>
              <a:t> – growth and achievement</a:t>
            </a:r>
          </a:p>
          <a:p>
            <a:pPr lvl="0"/>
            <a:r>
              <a:rPr lang="en-IN" sz="2400" i="1" dirty="0">
                <a:latin typeface="Times New Roman" panose="02020603050405020304" pitchFamily="18" charset="0"/>
                <a:cs typeface="Times New Roman" panose="02020603050405020304" pitchFamily="18" charset="0"/>
              </a:rPr>
              <a:t>Meaning</a:t>
            </a:r>
            <a:r>
              <a:rPr lang="en-IN" sz="2400" dirty="0">
                <a:latin typeface="Times New Roman" panose="02020603050405020304" pitchFamily="18" charset="0"/>
                <a:cs typeface="Times New Roman" panose="02020603050405020304" pitchFamily="18" charset="0"/>
              </a:rPr>
              <a:t> – sense of purpose</a:t>
            </a:r>
          </a:p>
        </p:txBody>
      </p:sp>
    </p:spTree>
    <p:extLst>
      <p:ext uri="{BB962C8B-B14F-4D97-AF65-F5344CB8AC3E}">
        <p14:creationId xmlns:p14="http://schemas.microsoft.com/office/powerpoint/2010/main" val="255334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94180-E4DC-2833-1A4E-E0B75E0246C6}"/>
              </a:ext>
            </a:extLst>
          </p:cNvPr>
          <p:cNvSpPr>
            <a:spLocks noGrp="1"/>
          </p:cNvSpPr>
          <p:nvPr>
            <p:ph type="title"/>
          </p:nvPr>
        </p:nvSpPr>
        <p:spPr/>
        <p:txBody>
          <a:bodyPr>
            <a:normAutofit/>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E1C0D455-B0AB-F341-44B7-1694DD16042C}"/>
              </a:ext>
            </a:extLst>
          </p:cNvPr>
          <p:cNvSpPr>
            <a:spLocks noGrp="1"/>
          </p:cNvSpPr>
          <p:nvPr>
            <p:ph idx="1"/>
          </p:nvPr>
        </p:nvSpPr>
        <p:spPr>
          <a:xfrm>
            <a:off x="838200" y="1839432"/>
            <a:ext cx="10515600" cy="4455041"/>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Title</a:t>
            </a:r>
            <a:r>
              <a:rPr lang="en-US" sz="2400" dirty="0">
                <a:latin typeface="Times New Roman" panose="02020603050405020304" pitchFamily="18" charset="0"/>
                <a:cs typeface="Times New Roman" panose="02020603050405020304" pitchFamily="18" charset="0"/>
              </a:rPr>
              <a:t>: Lifestyle and Wellbeing Data </a:t>
            </a:r>
          </a:p>
          <a:p>
            <a:pPr marL="0" indent="0">
              <a:buNone/>
            </a:pPr>
            <a:r>
              <a:rPr lang="en-US" sz="2400" b="1" dirty="0">
                <a:latin typeface="Times New Roman" panose="02020603050405020304" pitchFamily="18" charset="0"/>
                <a:cs typeface="Times New Roman" panose="02020603050405020304" pitchFamily="18" charset="0"/>
              </a:rPr>
              <a:t>Source:</a:t>
            </a:r>
            <a:r>
              <a:rPr lang="en-US" sz="2400" dirty="0">
                <a:latin typeface="Times New Roman" panose="02020603050405020304" pitchFamily="18" charset="0"/>
                <a:cs typeface="Times New Roman" panose="02020603050405020304" pitchFamily="18" charset="0"/>
              </a:rPr>
              <a:t> Kaggle, survey responses originally collected from Authentic-        Happiness.com. </a:t>
            </a:r>
          </a:p>
          <a:p>
            <a:pPr marL="0" indent="0">
              <a:buNone/>
            </a:pPr>
            <a:r>
              <a:rPr lang="en-US" sz="2400" b="1" dirty="0">
                <a:latin typeface="Times New Roman" panose="02020603050405020304" pitchFamily="18" charset="0"/>
                <a:cs typeface="Times New Roman" panose="02020603050405020304" pitchFamily="18" charset="0"/>
              </a:rPr>
              <a:t>Dimensions:</a:t>
            </a:r>
            <a:r>
              <a:rPr lang="en-US" sz="2400" dirty="0">
                <a:latin typeface="Times New Roman" panose="02020603050405020304" pitchFamily="18" charset="0"/>
                <a:cs typeface="Times New Roman" panose="02020603050405020304" pitchFamily="18" charset="0"/>
              </a:rPr>
              <a:t> Contains 15,977 survey responses with 24 attributes covering lifestyle behaviors, social engagement, personal achievement, and wellbeing outcomes. </a:t>
            </a:r>
          </a:p>
          <a:p>
            <a:pPr marL="0" indent="0">
              <a:buNone/>
            </a:pPr>
            <a:r>
              <a:rPr lang="en-US" sz="2400" b="1" dirty="0">
                <a:latin typeface="Times New Roman" panose="02020603050405020304" pitchFamily="18" charset="0"/>
                <a:cs typeface="Times New Roman" panose="02020603050405020304" pitchFamily="18" charset="0"/>
              </a:rPr>
              <a:t>Type of Data/Variables: </a:t>
            </a:r>
          </a:p>
          <a:p>
            <a:pPr marL="0" indent="0">
              <a:buNone/>
            </a:pPr>
            <a:r>
              <a:rPr lang="en-US" sz="2400" b="1" dirty="0">
                <a:latin typeface="Times New Roman" panose="02020603050405020304" pitchFamily="18" charset="0"/>
                <a:cs typeface="Times New Roman" panose="02020603050405020304" pitchFamily="18" charset="0"/>
              </a:rPr>
              <a:t>Lifestyle Factors: </a:t>
            </a:r>
            <a:r>
              <a:rPr lang="en-US" sz="2400" dirty="0">
                <a:latin typeface="Times New Roman" panose="02020603050405020304" pitchFamily="18" charset="0"/>
                <a:cs typeface="Times New Roman" panose="02020603050405020304" pitchFamily="18" charset="0"/>
              </a:rPr>
              <a:t>Nutrition, physical activity, sleep, stress, and social interaction</a:t>
            </a:r>
          </a:p>
          <a:p>
            <a:pPr marL="0" indent="0">
              <a:buNone/>
            </a:pPr>
            <a:r>
              <a:rPr lang="en-US" sz="2400" b="1" dirty="0">
                <a:latin typeface="Times New Roman" panose="02020603050405020304" pitchFamily="18" charset="0"/>
                <a:cs typeface="Times New Roman" panose="02020603050405020304" pitchFamily="18" charset="0"/>
              </a:rPr>
              <a:t>Demographics: </a:t>
            </a:r>
            <a:r>
              <a:rPr lang="en-US" sz="2400" dirty="0">
                <a:latin typeface="Times New Roman" panose="02020603050405020304" pitchFamily="18" charset="0"/>
                <a:cs typeface="Times New Roman" panose="02020603050405020304" pitchFamily="18" charset="0"/>
              </a:rPr>
              <a:t>Age and gender </a:t>
            </a:r>
          </a:p>
          <a:p>
            <a:pPr marL="0" indent="0">
              <a:buNone/>
            </a:pPr>
            <a:r>
              <a:rPr lang="en-US" sz="2400" b="1" dirty="0">
                <a:latin typeface="Times New Roman" panose="02020603050405020304" pitchFamily="18" charset="0"/>
                <a:cs typeface="Times New Roman" panose="02020603050405020304" pitchFamily="18" charset="0"/>
              </a:rPr>
              <a:t>Outcome:</a:t>
            </a:r>
            <a:r>
              <a:rPr lang="en-US" sz="2400" dirty="0">
                <a:latin typeface="Times New Roman" panose="02020603050405020304" pitchFamily="18" charset="0"/>
                <a:cs typeface="Times New Roman" panose="02020603050405020304" pitchFamily="18" charset="0"/>
              </a:rPr>
              <a:t> Life satisfaction and overall wellbeing scores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644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6946C-9E23-1977-FA20-B524CD24A676}"/>
              </a:ext>
            </a:extLst>
          </p:cNvPr>
          <p:cNvSpPr>
            <a:spLocks noGrp="1"/>
          </p:cNvSpPr>
          <p:nvPr>
            <p:ph type="title"/>
          </p:nvPr>
        </p:nvSpPr>
        <p:spPr/>
        <p:txBody>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Data Cleaning and Preparation:</a:t>
            </a:r>
            <a:br>
              <a:rPr lang="en-IN" dirty="0"/>
            </a:br>
            <a:endParaRPr lang="en-IN" dirty="0"/>
          </a:p>
        </p:txBody>
      </p:sp>
      <p:sp>
        <p:nvSpPr>
          <p:cNvPr id="5" name="TextBox 4">
            <a:extLst>
              <a:ext uri="{FF2B5EF4-FFF2-40B4-BE49-F238E27FC236}">
                <a16:creationId xmlns:a16="http://schemas.microsoft.com/office/drawing/2014/main" id="{DE0DC89D-0B6B-F035-0C47-9E71531B72A9}"/>
              </a:ext>
            </a:extLst>
          </p:cNvPr>
          <p:cNvSpPr txBox="1"/>
          <p:nvPr/>
        </p:nvSpPr>
        <p:spPr>
          <a:xfrm>
            <a:off x="838200" y="1501153"/>
            <a:ext cx="10515599" cy="4445063"/>
          </a:xfrm>
          <a:prstGeom prst="rect">
            <a:avLst/>
          </a:prstGeom>
          <a:noFill/>
        </p:spPr>
        <p:txBody>
          <a:bodyPr wrap="square">
            <a:spAutoFit/>
          </a:bodyPr>
          <a:lstStyle/>
          <a:p>
            <a:pPr lvl="0">
              <a:lnSpc>
                <a:spcPct val="107000"/>
              </a:lnSpc>
              <a:spcAft>
                <a:spcPts val="800"/>
              </a:spcAft>
              <a:buSzPts val="1000"/>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Verified Integrity: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Used .info() and .</a:t>
            </a:r>
            <a:r>
              <a:rPr lang="en-IN" sz="2400" kern="100" dirty="0" err="1">
                <a:effectLst/>
                <a:latin typeface="Times New Roman" panose="02020603050405020304" pitchFamily="18" charset="0"/>
                <a:ea typeface="Calibri" panose="020F0502020204030204" pitchFamily="34" charset="0"/>
                <a:cs typeface="Times New Roman" panose="02020603050405020304" pitchFamily="18" charset="0"/>
              </a:rPr>
              <a:t>isnull</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().sum(). Result: No missing values found.</a:t>
            </a:r>
          </a:p>
          <a:p>
            <a:pPr lvl="0">
              <a:lnSpc>
                <a:spcPct val="107000"/>
              </a:lnSpc>
              <a:spcAft>
                <a:spcPts val="800"/>
              </a:spcAft>
              <a:buSzPts val="1000"/>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Irrelevant Data: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The Timestamp column was removed as it is not needed for this analysis.</a:t>
            </a:r>
          </a:p>
          <a:p>
            <a:pPr lvl="0">
              <a:lnSpc>
                <a:spcPct val="107000"/>
              </a:lnSpc>
              <a:spcAft>
                <a:spcPts val="800"/>
              </a:spcAft>
              <a:buSzPts val="1000"/>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Encoded Categorical Data: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GENDER and BMI_RANGE were identified and converted into dummy variables for numerical analysis.</a:t>
            </a:r>
          </a:p>
          <a:p>
            <a:pPr lvl="0">
              <a:lnSpc>
                <a:spcPct val="107000"/>
              </a:lnSpc>
              <a:spcAft>
                <a:spcPts val="800"/>
              </a:spcAft>
              <a:buSzPts val="1000"/>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Checked Duplicates: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Verified dataset for duplicate entries or invalid values; none were detected.</a:t>
            </a:r>
          </a:p>
          <a:p>
            <a:pPr lvl="0">
              <a:lnSpc>
                <a:spcPct val="107000"/>
              </a:lnSpc>
              <a:spcAft>
                <a:spcPts val="800"/>
              </a:spcAft>
              <a:buSzPts val="1000"/>
              <a:tabLst>
                <a:tab pos="457200" algn="l"/>
              </a:tabLst>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Final Status: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The dataset is clean, complete, and ready for </a:t>
            </a:r>
            <a:r>
              <a:rPr lang="en-IN" sz="2400" kern="100" dirty="0" err="1">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Gautami" panose="020B0502040204020203" pitchFamily="34" charset="0"/>
              </a:rPr>
              <a:t> </a:t>
            </a:r>
            <a:endParaRPr lang="en-IN" sz="1400" kern="100" dirty="0">
              <a:effectLst/>
              <a:latin typeface="Calibri" panose="020F0502020204030204" pitchFamily="34" charset="0"/>
              <a:ea typeface="Calibri" panose="020F0502020204030204" pitchFamily="34" charset="0"/>
              <a:cs typeface="Gautami" panose="020B0502040204020203" pitchFamily="34" charset="0"/>
            </a:endParaRPr>
          </a:p>
        </p:txBody>
      </p:sp>
    </p:spTree>
    <p:extLst>
      <p:ext uri="{BB962C8B-B14F-4D97-AF65-F5344CB8AC3E}">
        <p14:creationId xmlns:p14="http://schemas.microsoft.com/office/powerpoint/2010/main" val="3869539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CAF54-44FF-DC06-A60C-CE238F590A04}"/>
              </a:ext>
            </a:extLst>
          </p:cNvPr>
          <p:cNvSpPr>
            <a:spLocks noGrp="1"/>
          </p:cNvSpPr>
          <p:nvPr>
            <p:ph type="title"/>
          </p:nvPr>
        </p:nvSpPr>
        <p:spPr/>
        <p:txBody>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EDA: Demographic Distributions:</a:t>
            </a:r>
            <a:br>
              <a:rPr lang="en-IN" b="1" dirty="0"/>
            </a:br>
            <a:endParaRPr lang="en-IN" dirty="0"/>
          </a:p>
        </p:txBody>
      </p:sp>
      <p:graphicFrame>
        <p:nvGraphicFramePr>
          <p:cNvPr id="4" name="Diagram 3">
            <a:extLst>
              <a:ext uri="{FF2B5EF4-FFF2-40B4-BE49-F238E27FC236}">
                <a16:creationId xmlns:a16="http://schemas.microsoft.com/office/drawing/2014/main" id="{8002DF00-E953-62EF-2F1D-990A4C8B6763}"/>
              </a:ext>
            </a:extLst>
          </p:cNvPr>
          <p:cNvGraphicFramePr/>
          <p:nvPr>
            <p:extLst>
              <p:ext uri="{D42A27DB-BD31-4B8C-83A1-F6EECF244321}">
                <p14:modId xmlns:p14="http://schemas.microsoft.com/office/powerpoint/2010/main" val="399995424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Chart 8">
            <a:extLst>
              <a:ext uri="{FF2B5EF4-FFF2-40B4-BE49-F238E27FC236}">
                <a16:creationId xmlns:a16="http://schemas.microsoft.com/office/drawing/2014/main" id="{C3B1D775-C7FB-E30E-1C6F-504FEBE7BA9B}"/>
              </a:ext>
            </a:extLst>
          </p:cNvPr>
          <p:cNvGraphicFramePr/>
          <p:nvPr>
            <p:extLst>
              <p:ext uri="{D42A27DB-BD31-4B8C-83A1-F6EECF244321}">
                <p14:modId xmlns:p14="http://schemas.microsoft.com/office/powerpoint/2010/main" val="16174727"/>
              </p:ext>
            </p:extLst>
          </p:nvPr>
        </p:nvGraphicFramePr>
        <p:xfrm>
          <a:off x="-659830" y="1125019"/>
          <a:ext cx="7481870" cy="5013314"/>
        </p:xfrm>
        <a:graphic>
          <a:graphicData uri="http://schemas.openxmlformats.org/drawingml/2006/chart">
            <c:chart xmlns:c="http://schemas.openxmlformats.org/drawingml/2006/chart" xmlns:r="http://schemas.openxmlformats.org/officeDocument/2006/relationships" r:id="rId7"/>
          </a:graphicData>
        </a:graphic>
      </p:graphicFrame>
      <p:sp>
        <p:nvSpPr>
          <p:cNvPr id="10" name="Rectangle: Beveled 9">
            <a:extLst>
              <a:ext uri="{FF2B5EF4-FFF2-40B4-BE49-F238E27FC236}">
                <a16:creationId xmlns:a16="http://schemas.microsoft.com/office/drawing/2014/main" id="{3890882B-032D-3798-825C-0ACF77AE6AB9}"/>
              </a:ext>
            </a:extLst>
          </p:cNvPr>
          <p:cNvSpPr/>
          <p:nvPr/>
        </p:nvSpPr>
        <p:spPr>
          <a:xfrm>
            <a:off x="6977151" y="3524572"/>
            <a:ext cx="256854" cy="287676"/>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34A587D-39DF-BD14-BAFC-4BF6B83B57B3}"/>
              </a:ext>
            </a:extLst>
          </p:cNvPr>
          <p:cNvSpPr txBox="1"/>
          <p:nvPr/>
        </p:nvSpPr>
        <p:spPr>
          <a:xfrm>
            <a:off x="7234005" y="3437577"/>
            <a:ext cx="320097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Women ( 9858 / 61.7% )</a:t>
            </a:r>
          </a:p>
        </p:txBody>
      </p:sp>
      <p:sp>
        <p:nvSpPr>
          <p:cNvPr id="12" name="Rectangle: Beveled 11">
            <a:extLst>
              <a:ext uri="{FF2B5EF4-FFF2-40B4-BE49-F238E27FC236}">
                <a16:creationId xmlns:a16="http://schemas.microsoft.com/office/drawing/2014/main" id="{08486FF9-6BB0-BD43-A5C2-57F0131672D0}"/>
              </a:ext>
            </a:extLst>
          </p:cNvPr>
          <p:cNvSpPr/>
          <p:nvPr/>
        </p:nvSpPr>
        <p:spPr>
          <a:xfrm>
            <a:off x="6982288" y="4016823"/>
            <a:ext cx="256854" cy="287676"/>
          </a:xfrm>
          <a:prstGeom prst="beve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31B6BE3B-EB8D-4421-44E3-64D9D69EF0B8}"/>
              </a:ext>
            </a:extLst>
          </p:cNvPr>
          <p:cNvSpPr txBox="1"/>
          <p:nvPr/>
        </p:nvSpPr>
        <p:spPr>
          <a:xfrm>
            <a:off x="7278953" y="3929828"/>
            <a:ext cx="293270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Men ( 6114 / 38.3% ) </a:t>
            </a:r>
          </a:p>
        </p:txBody>
      </p:sp>
      <p:sp>
        <p:nvSpPr>
          <p:cNvPr id="14" name="TextBox 13">
            <a:extLst>
              <a:ext uri="{FF2B5EF4-FFF2-40B4-BE49-F238E27FC236}">
                <a16:creationId xmlns:a16="http://schemas.microsoft.com/office/drawing/2014/main" id="{877101C6-F763-F096-9D0E-8F3A81B0ADE5}"/>
              </a:ext>
            </a:extLst>
          </p:cNvPr>
          <p:cNvSpPr txBox="1"/>
          <p:nvPr/>
        </p:nvSpPr>
        <p:spPr>
          <a:xfrm>
            <a:off x="7481583" y="2720595"/>
            <a:ext cx="2527443" cy="461665"/>
          </a:xfrm>
          <a:prstGeom prst="rect">
            <a:avLst/>
          </a:prstGeom>
          <a:noFill/>
        </p:spPr>
        <p:txBody>
          <a:bodyPr wrap="square" rtlCol="0">
            <a:spAutoFit/>
          </a:bodyPr>
          <a:lstStyle/>
          <a:p>
            <a:r>
              <a:rPr lang="en-IN" sz="2400" u="sng" dirty="0">
                <a:latin typeface="Times New Roman" panose="02020603050405020304" pitchFamily="18" charset="0"/>
                <a:cs typeface="Times New Roman" panose="02020603050405020304" pitchFamily="18" charset="0"/>
              </a:rPr>
              <a:t>GENDER:</a:t>
            </a:r>
          </a:p>
        </p:txBody>
      </p:sp>
    </p:spTree>
    <p:extLst>
      <p:ext uri="{BB962C8B-B14F-4D97-AF65-F5344CB8AC3E}">
        <p14:creationId xmlns:p14="http://schemas.microsoft.com/office/powerpoint/2010/main" val="1300647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4A445-B2FE-D93B-6C92-D0424ADBDD59}"/>
              </a:ext>
            </a:extLst>
          </p:cNvPr>
          <p:cNvSpPr>
            <a:spLocks noGrp="1"/>
          </p:cNvSpPr>
          <p:nvPr>
            <p:ph type="title"/>
          </p:nvPr>
        </p:nvSpPr>
        <p:spPr/>
        <p:txBody>
          <a:bodyPr/>
          <a:lstStyle/>
          <a:p>
            <a:r>
              <a:rPr lang="en-IN" b="1" u="sng" dirty="0">
                <a:solidFill>
                  <a:schemeClr val="accent6">
                    <a:lumMod val="50000"/>
                  </a:schemeClr>
                </a:solidFill>
                <a:latin typeface="Times New Roman" panose="02020603050405020304" pitchFamily="18" charset="0"/>
                <a:cs typeface="Times New Roman" panose="02020603050405020304" pitchFamily="18" charset="0"/>
              </a:rPr>
              <a:t>EDA: Demographic Distributions:</a:t>
            </a:r>
            <a:br>
              <a:rPr lang="en-IN" b="1" dirty="0"/>
            </a:br>
            <a:endParaRPr lang="en-IN" dirty="0"/>
          </a:p>
        </p:txBody>
      </p:sp>
      <p:graphicFrame>
        <p:nvGraphicFramePr>
          <p:cNvPr id="6" name="Content Placeholder 5">
            <a:extLst>
              <a:ext uri="{FF2B5EF4-FFF2-40B4-BE49-F238E27FC236}">
                <a16:creationId xmlns:a16="http://schemas.microsoft.com/office/drawing/2014/main" id="{A68E2B37-754F-0EE3-2E46-BD156A588274}"/>
              </a:ext>
            </a:extLst>
          </p:cNvPr>
          <p:cNvGraphicFramePr>
            <a:graphicFrameLocks noGrp="1"/>
          </p:cNvGraphicFramePr>
          <p:nvPr>
            <p:ph idx="1"/>
            <p:extLst>
              <p:ext uri="{D42A27DB-BD31-4B8C-83A1-F6EECF244321}">
                <p14:modId xmlns:p14="http://schemas.microsoft.com/office/powerpoint/2010/main" val="2049446788"/>
              </p:ext>
            </p:extLst>
          </p:nvPr>
        </p:nvGraphicFramePr>
        <p:xfrm>
          <a:off x="838200" y="1818526"/>
          <a:ext cx="7062627" cy="4358437"/>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Beveled 7">
            <a:extLst>
              <a:ext uri="{FF2B5EF4-FFF2-40B4-BE49-F238E27FC236}">
                <a16:creationId xmlns:a16="http://schemas.microsoft.com/office/drawing/2014/main" id="{2A6E04AD-4304-906E-5832-145D3FCCCDEC}"/>
              </a:ext>
            </a:extLst>
          </p:cNvPr>
          <p:cNvSpPr/>
          <p:nvPr/>
        </p:nvSpPr>
        <p:spPr>
          <a:xfrm>
            <a:off x="8322067" y="3842535"/>
            <a:ext cx="215758" cy="215757"/>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A42DF15-BF27-FD3A-7570-F4663D8FC6A0}"/>
              </a:ext>
            </a:extLst>
          </p:cNvPr>
          <p:cNvSpPr txBox="1"/>
          <p:nvPr/>
        </p:nvSpPr>
        <p:spPr>
          <a:xfrm>
            <a:off x="8537825" y="3842535"/>
            <a:ext cx="2722651" cy="369332"/>
          </a:xfrm>
          <a:prstGeom prst="rect">
            <a:avLst/>
          </a:prstGeom>
          <a:noFill/>
        </p:spPr>
        <p:txBody>
          <a:bodyPr wrap="square" rtlCol="0">
            <a:spAutoFit/>
          </a:bodyPr>
          <a:lstStyle/>
          <a:p>
            <a:r>
              <a:rPr lang="en-IN" dirty="0"/>
              <a:t>Range 1 ( 9413 / 58.94% )</a:t>
            </a:r>
          </a:p>
        </p:txBody>
      </p:sp>
      <p:sp>
        <p:nvSpPr>
          <p:cNvPr id="10" name="Rectangle: Beveled 9">
            <a:extLst>
              <a:ext uri="{FF2B5EF4-FFF2-40B4-BE49-F238E27FC236}">
                <a16:creationId xmlns:a16="http://schemas.microsoft.com/office/drawing/2014/main" id="{7EB327AB-6B5D-D4EA-83A4-FEA19FA95619}"/>
              </a:ext>
            </a:extLst>
          </p:cNvPr>
          <p:cNvSpPr/>
          <p:nvPr/>
        </p:nvSpPr>
        <p:spPr>
          <a:xfrm>
            <a:off x="8322067" y="4263775"/>
            <a:ext cx="215758" cy="215757"/>
          </a:xfrm>
          <a:prstGeom prst="beve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2154332C-608B-C46F-70D4-B2B006D98E0D}"/>
              </a:ext>
            </a:extLst>
          </p:cNvPr>
          <p:cNvSpPr txBox="1"/>
          <p:nvPr/>
        </p:nvSpPr>
        <p:spPr>
          <a:xfrm>
            <a:off x="8537825" y="4211867"/>
            <a:ext cx="2547991" cy="369332"/>
          </a:xfrm>
          <a:prstGeom prst="rect">
            <a:avLst/>
          </a:prstGeom>
          <a:noFill/>
        </p:spPr>
        <p:txBody>
          <a:bodyPr wrap="square" rtlCol="0">
            <a:spAutoFit/>
          </a:bodyPr>
          <a:lstStyle/>
          <a:p>
            <a:r>
              <a:rPr lang="en-IN" dirty="0"/>
              <a:t>Range 2 (6559 / 41.06% )</a:t>
            </a:r>
          </a:p>
        </p:txBody>
      </p:sp>
    </p:spTree>
    <p:extLst>
      <p:ext uri="{BB962C8B-B14F-4D97-AF65-F5344CB8AC3E}">
        <p14:creationId xmlns:p14="http://schemas.microsoft.com/office/powerpoint/2010/main" val="1566240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0FCD4-D8B7-04B5-49A5-A72F95D838BE}"/>
              </a:ext>
            </a:extLst>
          </p:cNvPr>
          <p:cNvSpPr>
            <a:spLocks noGrp="1"/>
          </p:cNvSpPr>
          <p:nvPr>
            <p:ph type="title"/>
          </p:nvPr>
        </p:nvSpPr>
        <p:spPr/>
        <p:txBody>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EDA: Feature Distributions</a:t>
            </a:r>
            <a:br>
              <a:rPr lang="en-IN" b="1" dirty="0"/>
            </a:br>
            <a:endParaRPr lang="en-IN" dirty="0"/>
          </a:p>
        </p:txBody>
      </p:sp>
      <p:pic>
        <p:nvPicPr>
          <p:cNvPr id="6" name="Picture 5">
            <a:extLst>
              <a:ext uri="{FF2B5EF4-FFF2-40B4-BE49-F238E27FC236}">
                <a16:creationId xmlns:a16="http://schemas.microsoft.com/office/drawing/2014/main" id="{AB435D4F-7AE6-D70F-76F5-5530732456A9}"/>
              </a:ext>
            </a:extLst>
          </p:cNvPr>
          <p:cNvPicPr>
            <a:picLocks noChangeAspect="1"/>
          </p:cNvPicPr>
          <p:nvPr/>
        </p:nvPicPr>
        <p:blipFill>
          <a:blip r:embed="rId2"/>
          <a:stretch>
            <a:fillRect/>
          </a:stretch>
        </p:blipFill>
        <p:spPr>
          <a:xfrm>
            <a:off x="838200" y="1204948"/>
            <a:ext cx="10515599" cy="5442432"/>
          </a:xfrm>
          <a:prstGeom prst="rect">
            <a:avLst/>
          </a:prstGeom>
        </p:spPr>
      </p:pic>
    </p:spTree>
    <p:extLst>
      <p:ext uri="{BB962C8B-B14F-4D97-AF65-F5344CB8AC3E}">
        <p14:creationId xmlns:p14="http://schemas.microsoft.com/office/powerpoint/2010/main" val="1730156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6CA84-D8C0-05F3-CDE5-E44902639D77}"/>
              </a:ext>
            </a:extLst>
          </p:cNvPr>
          <p:cNvSpPr>
            <a:spLocks noGrp="1"/>
          </p:cNvSpPr>
          <p:nvPr>
            <p:ph type="title"/>
          </p:nvPr>
        </p:nvSpPr>
        <p:spPr/>
        <p:txBody>
          <a:bodyPr/>
          <a:lstStyle/>
          <a:p>
            <a:r>
              <a:rPr lang="en-IN" b="1" u="sng" dirty="0">
                <a:solidFill>
                  <a:schemeClr val="accent6">
                    <a:lumMod val="50000"/>
                  </a:schemeClr>
                </a:solidFill>
                <a:latin typeface="Times New Roman" panose="02020603050405020304" pitchFamily="18" charset="0"/>
                <a:cs typeface="Times New Roman" panose="02020603050405020304" pitchFamily="18" charset="0"/>
              </a:rPr>
              <a:t>EDA: Feature Distributions</a:t>
            </a:r>
            <a:endParaRPr lang="en-IN" dirty="0"/>
          </a:p>
        </p:txBody>
      </p:sp>
      <p:sp>
        <p:nvSpPr>
          <p:cNvPr id="6" name="TextBox 5">
            <a:extLst>
              <a:ext uri="{FF2B5EF4-FFF2-40B4-BE49-F238E27FC236}">
                <a16:creationId xmlns:a16="http://schemas.microsoft.com/office/drawing/2014/main" id="{6D58594B-2611-4E39-74B6-6B8534BB60E8}"/>
              </a:ext>
            </a:extLst>
          </p:cNvPr>
          <p:cNvSpPr txBox="1"/>
          <p:nvPr/>
        </p:nvSpPr>
        <p:spPr>
          <a:xfrm>
            <a:off x="782120" y="1864361"/>
            <a:ext cx="10627760" cy="4154984"/>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Numeric Feature Exploration</a:t>
            </a:r>
          </a:p>
          <a:p>
            <a:endParaRPr lang="en-IN" sz="2400" b="1" dirty="0">
              <a:latin typeface="Times New Roman" panose="02020603050405020304" pitchFamily="18" charset="0"/>
              <a:cs typeface="Times New Roman" panose="02020603050405020304" pitchFamily="18" charset="0"/>
            </a:endParaRPr>
          </a:p>
          <a:p>
            <a:pPr algn="l">
              <a:buNone/>
            </a:pPr>
            <a:r>
              <a:rPr lang="en-US" sz="2400" i="0" dirty="0">
                <a:solidFill>
                  <a:srgbClr val="333333"/>
                </a:solidFill>
                <a:effectLst/>
                <a:latin typeface="Times New Roman" panose="02020603050405020304" pitchFamily="18" charset="0"/>
                <a:cs typeface="Times New Roman" panose="02020603050405020304" pitchFamily="18" charset="0"/>
              </a:rPr>
              <a:t>Histogram</a:t>
            </a:r>
            <a:r>
              <a:rPr lang="en-US" sz="2400" b="1" i="0" dirty="0">
                <a:solidFill>
                  <a:srgbClr val="333333"/>
                </a:solidFill>
                <a:effectLst/>
                <a:latin typeface="Times New Roman" panose="02020603050405020304" pitchFamily="18" charset="0"/>
                <a:cs typeface="Times New Roman" panose="02020603050405020304" pitchFamily="18" charset="0"/>
              </a:rPr>
              <a:t>s</a:t>
            </a:r>
            <a:r>
              <a:rPr lang="en-US" sz="2400" b="0" i="0" dirty="0">
                <a:solidFill>
                  <a:srgbClr val="333333"/>
                </a:solidFill>
                <a:effectLst/>
                <a:latin typeface="Times New Roman" panose="02020603050405020304" pitchFamily="18" charset="0"/>
                <a:cs typeface="Times New Roman" panose="02020603050405020304" pitchFamily="18" charset="0"/>
              </a:rPr>
              <a:t> were generated for all numeric lifestyle variables to understand their distributions.</a:t>
            </a:r>
          </a:p>
          <a:p>
            <a:pPr algn="l">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buNone/>
            </a:pPr>
            <a:r>
              <a:rPr lang="en-US" sz="2400" b="0" i="0" dirty="0">
                <a:solidFill>
                  <a:srgbClr val="333333"/>
                </a:solidFill>
                <a:effectLst/>
                <a:latin typeface="Times New Roman" panose="02020603050405020304" pitchFamily="18" charset="0"/>
                <a:cs typeface="Times New Roman" panose="02020603050405020304" pitchFamily="18" charset="0"/>
              </a:rPr>
              <a:t>The data is generally </a:t>
            </a:r>
            <a:r>
              <a:rPr lang="en-US" sz="2400" i="0" dirty="0">
                <a:solidFill>
                  <a:srgbClr val="333333"/>
                </a:solidFill>
                <a:effectLst/>
                <a:latin typeface="Times New Roman" panose="02020603050405020304" pitchFamily="18" charset="0"/>
                <a:cs typeface="Times New Roman" panose="02020603050405020304" pitchFamily="18" charset="0"/>
              </a:rPr>
              <a:t>well-distributed.</a:t>
            </a:r>
            <a:r>
              <a:rPr lang="en-US" sz="2400" b="0" i="0" dirty="0">
                <a:solidFill>
                  <a:srgbClr val="333333"/>
                </a:solidFill>
                <a:effectLst/>
                <a:latin typeface="Times New Roman" panose="02020603050405020304" pitchFamily="18" charset="0"/>
                <a:cs typeface="Times New Roman" panose="02020603050405020304" pitchFamily="18" charset="0"/>
              </a:rPr>
              <a:t> </a:t>
            </a:r>
          </a:p>
          <a:p>
            <a:pPr algn="l">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buNone/>
            </a:pPr>
            <a:r>
              <a:rPr lang="en-US" sz="2400" b="0" i="0" dirty="0">
                <a:solidFill>
                  <a:srgbClr val="333333"/>
                </a:solidFill>
                <a:effectLst/>
                <a:latin typeface="Times New Roman" panose="02020603050405020304" pitchFamily="18" charset="0"/>
                <a:cs typeface="Times New Roman" panose="02020603050405020304" pitchFamily="18" charset="0"/>
              </a:rPr>
              <a:t>Some variables, like LOST_VACATION, are logically skewed towards zero.</a:t>
            </a:r>
          </a:p>
          <a:p>
            <a:pPr algn="l">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buNone/>
            </a:pPr>
            <a:r>
              <a:rPr lang="en-US" sz="2400" b="0" i="0" dirty="0">
                <a:solidFill>
                  <a:srgbClr val="333333"/>
                </a:solidFill>
                <a:effectLst/>
                <a:latin typeface="Times New Roman" panose="02020603050405020304" pitchFamily="18" charset="0"/>
                <a:cs typeface="Times New Roman" panose="02020603050405020304" pitchFamily="18" charset="0"/>
              </a:rPr>
              <a:t>The target variable, WORK_LIFE_BALANCE_SCORE, appears to be normally distributed, which is ideal for regression analysis.</a:t>
            </a:r>
          </a:p>
        </p:txBody>
      </p:sp>
    </p:spTree>
    <p:extLst>
      <p:ext uri="{BB962C8B-B14F-4D97-AF65-F5344CB8AC3E}">
        <p14:creationId xmlns:p14="http://schemas.microsoft.com/office/powerpoint/2010/main" val="3174395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CEFB-42AB-18CA-155F-E01E8E75EAFA}"/>
              </a:ext>
            </a:extLst>
          </p:cNvPr>
          <p:cNvSpPr>
            <a:spLocks noGrp="1"/>
          </p:cNvSpPr>
          <p:nvPr>
            <p:ph type="title"/>
          </p:nvPr>
        </p:nvSpPr>
        <p:spPr/>
        <p:txBody>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EDA: Correlation Analysis</a:t>
            </a:r>
            <a:br>
              <a:rPr lang="en-IN" b="1" dirty="0"/>
            </a:br>
            <a:endParaRPr lang="en-IN" dirty="0"/>
          </a:p>
        </p:txBody>
      </p:sp>
      <p:pic>
        <p:nvPicPr>
          <p:cNvPr id="6" name="Picture 5">
            <a:extLst>
              <a:ext uri="{FF2B5EF4-FFF2-40B4-BE49-F238E27FC236}">
                <a16:creationId xmlns:a16="http://schemas.microsoft.com/office/drawing/2014/main" id="{6FEA8CFD-B9B9-FDBB-9F8D-E497658254DE}"/>
              </a:ext>
            </a:extLst>
          </p:cNvPr>
          <p:cNvPicPr>
            <a:picLocks noChangeAspect="1"/>
          </p:cNvPicPr>
          <p:nvPr/>
        </p:nvPicPr>
        <p:blipFill>
          <a:blip r:embed="rId2"/>
          <a:stretch>
            <a:fillRect/>
          </a:stretch>
        </p:blipFill>
        <p:spPr>
          <a:xfrm>
            <a:off x="2198670" y="1192701"/>
            <a:ext cx="7312623" cy="5546892"/>
          </a:xfrm>
          <a:prstGeom prst="rect">
            <a:avLst/>
          </a:prstGeom>
        </p:spPr>
      </p:pic>
    </p:spTree>
    <p:extLst>
      <p:ext uri="{BB962C8B-B14F-4D97-AF65-F5344CB8AC3E}">
        <p14:creationId xmlns:p14="http://schemas.microsoft.com/office/powerpoint/2010/main" val="377174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E59F2-6EC9-FCC4-80B5-3CD9FC8136BC}"/>
              </a:ext>
            </a:extLst>
          </p:cNvPr>
          <p:cNvSpPr>
            <a:spLocks noGrp="1"/>
          </p:cNvSpPr>
          <p:nvPr>
            <p:ph type="title"/>
          </p:nvPr>
        </p:nvSpPr>
        <p:spPr/>
        <p:txBody>
          <a:bodyPr/>
          <a:lstStyle/>
          <a:p>
            <a:r>
              <a:rPr lang="en-IN" b="1" u="sng" dirty="0">
                <a:solidFill>
                  <a:schemeClr val="accent6">
                    <a:lumMod val="50000"/>
                  </a:schemeClr>
                </a:solidFill>
                <a:latin typeface="Times New Roman" panose="02020603050405020304" pitchFamily="18" charset="0"/>
                <a:cs typeface="Times New Roman" panose="02020603050405020304" pitchFamily="18" charset="0"/>
              </a:rPr>
              <a:t>EDA: Correlation Analysis</a:t>
            </a:r>
            <a:br>
              <a:rPr lang="en-IN" b="1" dirty="0"/>
            </a:br>
            <a:endParaRPr lang="en-IN" dirty="0"/>
          </a:p>
        </p:txBody>
      </p:sp>
      <p:sp>
        <p:nvSpPr>
          <p:cNvPr id="5" name="TextBox 4">
            <a:extLst>
              <a:ext uri="{FF2B5EF4-FFF2-40B4-BE49-F238E27FC236}">
                <a16:creationId xmlns:a16="http://schemas.microsoft.com/office/drawing/2014/main" id="{5A842713-6302-9367-0881-0FB2686C612B}"/>
              </a:ext>
            </a:extLst>
          </p:cNvPr>
          <p:cNvSpPr txBox="1"/>
          <p:nvPr/>
        </p:nvSpPr>
        <p:spPr>
          <a:xfrm>
            <a:off x="735458" y="1690688"/>
            <a:ext cx="10515600" cy="3416320"/>
          </a:xfrm>
          <a:prstGeom prst="rect">
            <a:avLst/>
          </a:prstGeom>
          <a:noFill/>
        </p:spPr>
        <p:txBody>
          <a:bodyPr wrap="square">
            <a:spAutoFit/>
          </a:bodyPr>
          <a:lstStyle/>
          <a:p>
            <a:pPr algn="l">
              <a:buNone/>
            </a:pPr>
            <a:r>
              <a:rPr lang="en-US" sz="2400" b="0" i="0" dirty="0">
                <a:solidFill>
                  <a:srgbClr val="333333"/>
                </a:solidFill>
                <a:effectLst/>
                <a:latin typeface="Times New Roman" panose="02020603050405020304" pitchFamily="18" charset="0"/>
                <a:cs typeface="Times New Roman" panose="02020603050405020304" pitchFamily="18" charset="0"/>
              </a:rPr>
              <a:t>A correlation matrix was computed for all numeric columns to identify relationships between variables.</a:t>
            </a:r>
          </a:p>
          <a:p>
            <a:pPr algn="l">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buNone/>
            </a:pPr>
            <a:r>
              <a:rPr lang="en-US" sz="2400" b="0" i="0" dirty="0">
                <a:solidFill>
                  <a:srgbClr val="333333"/>
                </a:solidFill>
                <a:effectLst/>
                <a:latin typeface="Times New Roman" panose="02020603050405020304" pitchFamily="18" charset="0"/>
                <a:cs typeface="Times New Roman" panose="02020603050405020304" pitchFamily="18" charset="0"/>
              </a:rPr>
              <a:t>Strong positive relationships were found among wellbeing, achievement (ACHIEVEMENT), and social engagement (SOCIAL_NETWORK, SUPPORTING_OTHERS) features.</a:t>
            </a:r>
          </a:p>
          <a:p>
            <a:pPr algn="l">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buNone/>
            </a:pPr>
            <a:r>
              <a:rPr lang="en-US" sz="2400" b="0" i="0" dirty="0">
                <a:solidFill>
                  <a:srgbClr val="333333"/>
                </a:solidFill>
                <a:effectLst/>
                <a:latin typeface="Times New Roman" panose="02020603050405020304" pitchFamily="18" charset="0"/>
                <a:cs typeface="Times New Roman" panose="02020603050405020304" pitchFamily="18" charset="0"/>
              </a:rPr>
              <a:t>This confirms that these factors are intertwined and are suitable for inclusion in predictive modeling.</a:t>
            </a:r>
          </a:p>
        </p:txBody>
      </p:sp>
    </p:spTree>
    <p:extLst>
      <p:ext uri="{BB962C8B-B14F-4D97-AF65-F5344CB8AC3E}">
        <p14:creationId xmlns:p14="http://schemas.microsoft.com/office/powerpoint/2010/main" val="2985696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4CA69-3154-4D79-95F6-2600A4FB4CA6}"/>
              </a:ext>
            </a:extLst>
          </p:cNvPr>
          <p:cNvSpPr>
            <a:spLocks noGrp="1"/>
          </p:cNvSpPr>
          <p:nvPr>
            <p:ph type="title"/>
          </p:nvPr>
        </p:nvSpPr>
        <p:spPr/>
        <p:txBody>
          <a:bodyPr>
            <a:normAutofit/>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Variables Used:</a:t>
            </a:r>
          </a:p>
        </p:txBody>
      </p:sp>
      <p:sp>
        <p:nvSpPr>
          <p:cNvPr id="5" name="TextBox 4">
            <a:extLst>
              <a:ext uri="{FF2B5EF4-FFF2-40B4-BE49-F238E27FC236}">
                <a16:creationId xmlns:a16="http://schemas.microsoft.com/office/drawing/2014/main" id="{83CD87A2-7AA1-AF8B-B83D-7458A5EE959B}"/>
              </a:ext>
            </a:extLst>
          </p:cNvPr>
          <p:cNvSpPr txBox="1"/>
          <p:nvPr/>
        </p:nvSpPr>
        <p:spPr>
          <a:xfrm>
            <a:off x="838200" y="1690688"/>
            <a:ext cx="7625993" cy="1938992"/>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Predictors (X):</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Lifestyle + demographic variables</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Outcome (Y):</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WORK_LIFE_BALANCE_SCORE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2604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1414-CE56-C226-5EA9-8D268AF62213}"/>
              </a:ext>
            </a:extLst>
          </p:cNvPr>
          <p:cNvSpPr>
            <a:spLocks noGrp="1"/>
          </p:cNvSpPr>
          <p:nvPr>
            <p:ph type="title"/>
          </p:nvPr>
        </p:nvSpPr>
        <p:spPr/>
        <p:txBody>
          <a:bodyPr>
            <a:normAutofit fontScale="90000"/>
          </a:bodyPr>
          <a:lstStyle/>
          <a:p>
            <a:r>
              <a:rPr lang="en-IN" b="1" u="sng" dirty="0">
                <a:solidFill>
                  <a:schemeClr val="accent6">
                    <a:lumMod val="50000"/>
                  </a:schemeClr>
                </a:solidFill>
                <a:latin typeface="Times New Roman" panose="02020603050405020304" pitchFamily="18" charset="0"/>
                <a:cs typeface="Times New Roman" panose="02020603050405020304" pitchFamily="18" charset="0"/>
              </a:rPr>
              <a:t>Principal Component Analysis: Explained Variance:</a:t>
            </a:r>
            <a:br>
              <a:rPr lang="en-IN" b="1" dirty="0"/>
            </a:br>
            <a:endParaRPr lang="en-IN" b="1" dirty="0"/>
          </a:p>
        </p:txBody>
      </p:sp>
      <p:pic>
        <p:nvPicPr>
          <p:cNvPr id="5" name="Content Placeholder 4">
            <a:extLst>
              <a:ext uri="{FF2B5EF4-FFF2-40B4-BE49-F238E27FC236}">
                <a16:creationId xmlns:a16="http://schemas.microsoft.com/office/drawing/2014/main" id="{035C663F-D7DE-8B7E-406C-6063DE34E4BE}"/>
              </a:ext>
            </a:extLst>
          </p:cNvPr>
          <p:cNvPicPr>
            <a:picLocks noGrp="1" noChangeAspect="1"/>
          </p:cNvPicPr>
          <p:nvPr>
            <p:ph idx="1"/>
          </p:nvPr>
        </p:nvPicPr>
        <p:blipFill>
          <a:blip r:embed="rId2"/>
          <a:stretch>
            <a:fillRect/>
          </a:stretch>
        </p:blipFill>
        <p:spPr>
          <a:xfrm>
            <a:off x="2515441" y="1834598"/>
            <a:ext cx="7161117" cy="4833967"/>
          </a:xfrm>
          <a:prstGeom prst="rect">
            <a:avLst/>
          </a:prstGeom>
        </p:spPr>
      </p:pic>
    </p:spTree>
    <p:extLst>
      <p:ext uri="{BB962C8B-B14F-4D97-AF65-F5344CB8AC3E}">
        <p14:creationId xmlns:p14="http://schemas.microsoft.com/office/powerpoint/2010/main" val="3589937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2B907-EADB-DDB2-9EF0-CA730685676D}"/>
              </a:ext>
            </a:extLst>
          </p:cNvPr>
          <p:cNvSpPr>
            <a:spLocks noGrp="1"/>
          </p:cNvSpPr>
          <p:nvPr>
            <p:ph type="title"/>
          </p:nvPr>
        </p:nvSpPr>
        <p:spPr/>
        <p:txBody>
          <a:bodyPr>
            <a:normAutofit fontScale="90000"/>
          </a:bodyPr>
          <a:lstStyle/>
          <a:p>
            <a:r>
              <a:rPr lang="en-IN" b="1" u="sng" dirty="0">
                <a:solidFill>
                  <a:schemeClr val="accent6">
                    <a:lumMod val="50000"/>
                  </a:schemeClr>
                </a:solidFill>
                <a:latin typeface="Times New Roman" panose="02020603050405020304" pitchFamily="18" charset="0"/>
                <a:cs typeface="Times New Roman" panose="02020603050405020304" pitchFamily="18" charset="0"/>
              </a:rPr>
              <a:t>Principal Component Analysis: Explained Variance:</a:t>
            </a:r>
            <a:br>
              <a:rPr lang="en-IN" b="1" dirty="0"/>
            </a:br>
            <a:endParaRPr lang="en-IN" dirty="0"/>
          </a:p>
        </p:txBody>
      </p:sp>
      <p:sp>
        <p:nvSpPr>
          <p:cNvPr id="5" name="TextBox 4">
            <a:extLst>
              <a:ext uri="{FF2B5EF4-FFF2-40B4-BE49-F238E27FC236}">
                <a16:creationId xmlns:a16="http://schemas.microsoft.com/office/drawing/2014/main" id="{1E06ACDF-FC32-FA97-6084-DD838A534388}"/>
              </a:ext>
            </a:extLst>
          </p:cNvPr>
          <p:cNvSpPr txBox="1"/>
          <p:nvPr/>
        </p:nvSpPr>
        <p:spPr>
          <a:xfrm>
            <a:off x="838200" y="2344898"/>
            <a:ext cx="10617484" cy="3652282"/>
          </a:xfrm>
          <a:prstGeom prst="rect">
            <a:avLst/>
          </a:prstGeom>
          <a:noFill/>
        </p:spPr>
        <p:txBody>
          <a:bodyPr wrap="square">
            <a:spAutoFit/>
          </a:bodyPr>
          <a:lstStyle/>
          <a:p>
            <a:pPr algn="l">
              <a:spcAft>
                <a:spcPts val="1875"/>
              </a:spcAft>
            </a:pPr>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PC1</a:t>
            </a:r>
            <a:r>
              <a:rPr lang="en-US" sz="2400" i="0" dirty="0">
                <a:solidFill>
                  <a:schemeClr val="tx1">
                    <a:lumMod val="95000"/>
                    <a:lumOff val="5000"/>
                  </a:schemeClr>
                </a:solidFill>
                <a:effectLst/>
                <a:latin typeface="Times New Roman" panose="02020603050405020304" pitchFamily="18" charset="0"/>
                <a:cs typeface="Times New Roman" panose="02020603050405020304" pitchFamily="18" charset="0"/>
              </a:rPr>
              <a:t>: Explained 22.5% of the total variance.</a:t>
            </a:r>
          </a:p>
          <a:p>
            <a:pPr algn="l">
              <a:spcAft>
                <a:spcPts val="1875"/>
              </a:spcAft>
            </a:pPr>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PC2</a:t>
            </a:r>
            <a:r>
              <a:rPr lang="en-US" sz="2400" i="0" dirty="0">
                <a:solidFill>
                  <a:schemeClr val="tx1">
                    <a:lumMod val="95000"/>
                    <a:lumOff val="5000"/>
                  </a:schemeClr>
                </a:solidFill>
                <a:effectLst/>
                <a:latin typeface="Times New Roman" panose="02020603050405020304" pitchFamily="18" charset="0"/>
                <a:cs typeface="Times New Roman" panose="02020603050405020304" pitchFamily="18" charset="0"/>
              </a:rPr>
              <a:t>: Explained 8.0% of the total variance.</a:t>
            </a:r>
          </a:p>
          <a:p>
            <a:pPr algn="l">
              <a:spcAft>
                <a:spcPts val="1875"/>
              </a:spcAft>
            </a:pPr>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PC3</a:t>
            </a:r>
            <a:r>
              <a:rPr lang="en-US" sz="2400" i="0" dirty="0">
                <a:solidFill>
                  <a:schemeClr val="tx1">
                    <a:lumMod val="95000"/>
                    <a:lumOff val="5000"/>
                  </a:schemeClr>
                </a:solidFill>
                <a:effectLst/>
                <a:latin typeface="Times New Roman" panose="02020603050405020304" pitchFamily="18" charset="0"/>
                <a:cs typeface="Times New Roman" panose="02020603050405020304" pitchFamily="18" charset="0"/>
              </a:rPr>
              <a:t>: Explained 6.6% of the total variance.</a:t>
            </a:r>
          </a:p>
          <a:p>
            <a:pPr algn="l">
              <a:spcAft>
                <a:spcPts val="1875"/>
              </a:spcAft>
            </a:pPr>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PC4 &amp; PC5</a:t>
            </a:r>
            <a:r>
              <a:rPr lang="en-US" sz="2400" i="0" dirty="0">
                <a:solidFill>
                  <a:schemeClr val="tx1">
                    <a:lumMod val="95000"/>
                    <a:lumOff val="5000"/>
                  </a:schemeClr>
                </a:solidFill>
                <a:effectLst/>
                <a:latin typeface="Times New Roman" panose="02020603050405020304" pitchFamily="18" charset="0"/>
                <a:cs typeface="Times New Roman" panose="02020603050405020304" pitchFamily="18" charset="0"/>
              </a:rPr>
              <a:t>: Each explained 5.6% of the total variance.</a:t>
            </a:r>
          </a:p>
          <a:p>
            <a:pPr algn="l">
              <a:spcAft>
                <a:spcPts val="1875"/>
              </a:spcAft>
            </a:pPr>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Cumulative Variance</a:t>
            </a:r>
            <a:r>
              <a:rPr lang="en-US" sz="2400" i="0" dirty="0">
                <a:solidFill>
                  <a:schemeClr val="tx1">
                    <a:lumMod val="95000"/>
                    <a:lumOff val="5000"/>
                  </a:schemeClr>
                </a:solidFill>
                <a:effectLst/>
                <a:latin typeface="Times New Roman" panose="02020603050405020304" pitchFamily="18" charset="0"/>
                <a:cs typeface="Times New Roman" panose="02020603050405020304" pitchFamily="18" charset="0"/>
              </a:rPr>
              <a:t>: The first five components captured approximately 48% of the total variance, confirming the data contains several independent behavioral dimensions.</a:t>
            </a:r>
          </a:p>
        </p:txBody>
      </p:sp>
    </p:spTree>
    <p:extLst>
      <p:ext uri="{BB962C8B-B14F-4D97-AF65-F5344CB8AC3E}">
        <p14:creationId xmlns:p14="http://schemas.microsoft.com/office/powerpoint/2010/main" val="645456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112A-14B5-4CC6-84CB-3F225375A736}"/>
              </a:ext>
            </a:extLst>
          </p:cNvPr>
          <p:cNvSpPr>
            <a:spLocks noGrp="1"/>
          </p:cNvSpPr>
          <p:nvPr>
            <p:ph type="title"/>
          </p:nvPr>
        </p:nvSpPr>
        <p:spPr/>
        <p:txBody>
          <a:bodyPr>
            <a:normAutofit/>
          </a:bodyPr>
          <a:lstStyle/>
          <a:p>
            <a:r>
              <a:rPr lang="en-US" sz="4000" b="1" u="sng" dirty="0">
                <a:solidFill>
                  <a:schemeClr val="accent6">
                    <a:lumMod val="50000"/>
                  </a:schemeClr>
                </a:solidFill>
                <a:latin typeface="Times New Roman" panose="02020603050405020304" pitchFamily="18" charset="0"/>
                <a:cs typeface="Times New Roman" panose="02020603050405020304" pitchFamily="18" charset="0"/>
              </a:rPr>
              <a:t>Regression Model Results:</a:t>
            </a:r>
            <a:br>
              <a:rPr lang="en-US" sz="4000" b="1" u="sng" dirty="0">
                <a:solidFill>
                  <a:schemeClr val="accent6">
                    <a:lumMod val="50000"/>
                  </a:schemeClr>
                </a:solidFill>
                <a:latin typeface="Times New Roman" panose="02020603050405020304" pitchFamily="18" charset="0"/>
                <a:cs typeface="Times New Roman" panose="02020603050405020304" pitchFamily="18" charset="0"/>
              </a:rPr>
            </a:br>
            <a:endParaRPr lang="en-IN" sz="4000" b="1" u="sng"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0D70AE1-65AD-E8D2-35E2-79A1614BB280}"/>
              </a:ext>
            </a:extLst>
          </p:cNvPr>
          <p:cNvSpPr txBox="1"/>
          <p:nvPr/>
        </p:nvSpPr>
        <p:spPr>
          <a:xfrm>
            <a:off x="540250" y="3314869"/>
            <a:ext cx="6097712" cy="1200329"/>
          </a:xfrm>
          <a:prstGeom prst="rect">
            <a:avLst/>
          </a:prstGeom>
          <a:noFill/>
        </p:spPr>
        <p:txBody>
          <a:bodyPr wrap="square">
            <a:spAutoFit/>
          </a:bodyPr>
          <a:lstStyle/>
          <a:p>
            <a:r>
              <a:rPr lang="fr-FR" sz="2400" b="1" i="0" dirty="0" err="1">
                <a:solidFill>
                  <a:schemeClr val="accent6">
                    <a:lumMod val="50000"/>
                  </a:schemeClr>
                </a:solidFill>
                <a:effectLst/>
                <a:latin typeface="Times New Roman" panose="02020603050405020304" pitchFamily="18" charset="0"/>
                <a:cs typeface="Times New Roman" panose="02020603050405020304" pitchFamily="18" charset="0"/>
              </a:rPr>
              <a:t>Regression</a:t>
            </a:r>
            <a:r>
              <a:rPr lang="fr-FR" sz="2400" b="1" i="0" dirty="0">
                <a:solidFill>
                  <a:schemeClr val="accent6">
                    <a:lumMod val="50000"/>
                  </a:schemeClr>
                </a:solidFill>
                <a:effectLst/>
                <a:latin typeface="Times New Roman" panose="02020603050405020304" pitchFamily="18" charset="0"/>
                <a:cs typeface="Times New Roman" panose="02020603050405020304" pitchFamily="18" charset="0"/>
              </a:rPr>
              <a:t> MSE: 88.07095735967155 </a:t>
            </a:r>
            <a:r>
              <a:rPr lang="fr-FR" sz="2400" b="1" i="0" dirty="0" err="1">
                <a:solidFill>
                  <a:schemeClr val="accent6">
                    <a:lumMod val="50000"/>
                  </a:schemeClr>
                </a:solidFill>
                <a:effectLst/>
                <a:latin typeface="Times New Roman" panose="02020603050405020304" pitchFamily="18" charset="0"/>
                <a:cs typeface="Times New Roman" panose="02020603050405020304" pitchFamily="18" charset="0"/>
              </a:rPr>
              <a:t>Regression</a:t>
            </a:r>
            <a:r>
              <a:rPr lang="fr-FR" sz="2400" b="1" i="0" dirty="0">
                <a:solidFill>
                  <a:schemeClr val="accent6">
                    <a:lumMod val="50000"/>
                  </a:schemeClr>
                </a:solidFill>
                <a:effectLst/>
                <a:latin typeface="Times New Roman" panose="02020603050405020304" pitchFamily="18" charset="0"/>
                <a:cs typeface="Times New Roman" panose="02020603050405020304" pitchFamily="18" charset="0"/>
              </a:rPr>
              <a:t> R2: 0.9556683804112612 </a:t>
            </a:r>
            <a:r>
              <a:rPr lang="fr-FR" sz="2400" b="1" i="0" dirty="0" err="1">
                <a:solidFill>
                  <a:schemeClr val="accent6">
                    <a:lumMod val="50000"/>
                  </a:schemeClr>
                </a:solidFill>
                <a:effectLst/>
                <a:latin typeface="Times New Roman" panose="02020603050405020304" pitchFamily="18" charset="0"/>
                <a:cs typeface="Times New Roman" panose="02020603050405020304" pitchFamily="18" charset="0"/>
              </a:rPr>
              <a:t>Regression</a:t>
            </a:r>
            <a:r>
              <a:rPr lang="fr-FR" sz="2400" b="1" i="0" dirty="0">
                <a:solidFill>
                  <a:schemeClr val="accent6">
                    <a:lumMod val="50000"/>
                  </a:schemeClr>
                </a:solidFill>
                <a:effectLst/>
                <a:latin typeface="Times New Roman" panose="02020603050405020304" pitchFamily="18" charset="0"/>
                <a:cs typeface="Times New Roman" panose="02020603050405020304" pitchFamily="18" charset="0"/>
              </a:rPr>
              <a:t> MAE: 8.219107222992019</a:t>
            </a:r>
            <a:endParaRPr lang="en-IN" sz="2400" b="1"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F367E60-23AB-740F-32F5-41C6BB4319BA}"/>
              </a:ext>
            </a:extLst>
          </p:cNvPr>
          <p:cNvSpPr txBox="1"/>
          <p:nvPr/>
        </p:nvSpPr>
        <p:spPr>
          <a:xfrm>
            <a:off x="5771508" y="2206874"/>
            <a:ext cx="6097712" cy="3416320"/>
          </a:xfrm>
          <a:prstGeom prst="rect">
            <a:avLst/>
          </a:prstGeom>
          <a:noFill/>
        </p:spPr>
        <p:txBody>
          <a:bodyPr wrap="square">
            <a:spAutoFit/>
          </a:bodyPr>
          <a:lstStyle/>
          <a:p>
            <a:pPr algn="l">
              <a:buNone/>
            </a:pPr>
            <a:r>
              <a:rPr lang="en-US" sz="2400" b="0" i="0" dirty="0">
                <a:solidFill>
                  <a:srgbClr val="333333"/>
                </a:solidFill>
                <a:effectLst/>
                <a:latin typeface="Times New Roman" panose="02020603050405020304" pitchFamily="18" charset="0"/>
                <a:cs typeface="Times New Roman" panose="02020603050405020304" pitchFamily="18" charset="0"/>
              </a:rPr>
              <a:t>The R² value indicates that the model explains 95.6% of the variability in work-life balance. This is a very strong result for a lifestyle survey dataset and suggests the predictor variables carry significant informational value.</a:t>
            </a:r>
          </a:p>
          <a:p>
            <a:pPr algn="l">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buNone/>
            </a:pPr>
            <a:r>
              <a:rPr lang="en-US" sz="2400" b="1" i="0" dirty="0">
                <a:solidFill>
                  <a:srgbClr val="333333"/>
                </a:solidFill>
                <a:effectLst/>
                <a:latin typeface="Times New Roman" panose="02020603050405020304" pitchFamily="18" charset="0"/>
                <a:cs typeface="Times New Roman" panose="02020603050405020304" pitchFamily="18" charset="0"/>
              </a:rPr>
              <a:t>Mean Squared Error (MSE):</a:t>
            </a:r>
            <a:r>
              <a:rPr lang="en-US" sz="2400" b="0" i="0" dirty="0">
                <a:solidFill>
                  <a:srgbClr val="333333"/>
                </a:solidFill>
                <a:effectLst/>
                <a:latin typeface="Times New Roman" panose="02020603050405020304" pitchFamily="18" charset="0"/>
                <a:cs typeface="Times New Roman" panose="02020603050405020304" pitchFamily="18" charset="0"/>
              </a:rPr>
              <a:t> 88.07</a:t>
            </a:r>
          </a:p>
          <a:p>
            <a:pPr algn="l">
              <a:buNone/>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a:buNone/>
            </a:pPr>
            <a:r>
              <a:rPr lang="en-US" sz="2400" b="1" i="0" dirty="0">
                <a:solidFill>
                  <a:srgbClr val="333333"/>
                </a:solidFill>
                <a:effectLst/>
                <a:latin typeface="Times New Roman" panose="02020603050405020304" pitchFamily="18" charset="0"/>
                <a:cs typeface="Times New Roman" panose="02020603050405020304" pitchFamily="18" charset="0"/>
              </a:rPr>
              <a:t>Mean Absolute Error (MAE):</a:t>
            </a:r>
            <a:r>
              <a:rPr lang="en-US" sz="2400" b="0" i="0" dirty="0">
                <a:solidFill>
                  <a:srgbClr val="333333"/>
                </a:solidFill>
                <a:effectLst/>
                <a:latin typeface="Times New Roman" panose="02020603050405020304" pitchFamily="18" charset="0"/>
                <a:cs typeface="Times New Roman" panose="02020603050405020304" pitchFamily="18" charset="0"/>
              </a:rPr>
              <a:t> 8.22</a:t>
            </a:r>
          </a:p>
        </p:txBody>
      </p:sp>
    </p:spTree>
    <p:extLst>
      <p:ext uri="{BB962C8B-B14F-4D97-AF65-F5344CB8AC3E}">
        <p14:creationId xmlns:p14="http://schemas.microsoft.com/office/powerpoint/2010/main" val="4162596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F3D3-6B2E-5A04-8396-72857B548B70}"/>
              </a:ext>
            </a:extLst>
          </p:cNvPr>
          <p:cNvSpPr>
            <a:spLocks noGrp="1"/>
          </p:cNvSpPr>
          <p:nvPr>
            <p:ph type="title"/>
          </p:nvPr>
        </p:nvSpPr>
        <p:spPr/>
        <p:txBody>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Regression: Most Influential Predictors</a:t>
            </a:r>
            <a:br>
              <a:rPr lang="en-IN" b="1" dirty="0"/>
            </a:br>
            <a:endParaRPr lang="en-IN" dirty="0"/>
          </a:p>
        </p:txBody>
      </p:sp>
      <p:sp>
        <p:nvSpPr>
          <p:cNvPr id="8" name="TextBox 7">
            <a:extLst>
              <a:ext uri="{FF2B5EF4-FFF2-40B4-BE49-F238E27FC236}">
                <a16:creationId xmlns:a16="http://schemas.microsoft.com/office/drawing/2014/main" id="{CC75E814-EBC9-9750-BC9A-C799FE5EBBE1}"/>
              </a:ext>
            </a:extLst>
          </p:cNvPr>
          <p:cNvSpPr txBox="1"/>
          <p:nvPr/>
        </p:nvSpPr>
        <p:spPr>
          <a:xfrm>
            <a:off x="719191" y="1796807"/>
            <a:ext cx="6030930" cy="480131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Top Positive Predictors</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SUFFICIENT_INCOME:</a:t>
            </a:r>
            <a:r>
              <a:rPr lang="en-US" sz="2400" dirty="0">
                <a:latin typeface="Times New Roman" panose="02020603050405020304" pitchFamily="18" charset="0"/>
                <a:cs typeface="Times New Roman" panose="02020603050405020304" pitchFamily="18" charset="0"/>
              </a:rPr>
              <a:t> Emphasizes financial security.</a:t>
            </a:r>
          </a:p>
          <a:p>
            <a:r>
              <a:rPr lang="en-US" sz="2400" b="1" dirty="0">
                <a:latin typeface="Times New Roman" panose="02020603050405020304" pitchFamily="18" charset="0"/>
                <a:cs typeface="Times New Roman" panose="02020603050405020304" pitchFamily="18" charset="0"/>
              </a:rPr>
              <a:t>DAILY_STEPS:</a:t>
            </a:r>
            <a:r>
              <a:rPr lang="en-US" sz="2400" dirty="0">
                <a:latin typeface="Times New Roman" panose="02020603050405020304" pitchFamily="18" charset="0"/>
                <a:cs typeface="Times New Roman" panose="02020603050405020304" pitchFamily="18" charset="0"/>
              </a:rPr>
              <a:t> Highlights the value of physical movement.</a:t>
            </a:r>
          </a:p>
          <a:p>
            <a:r>
              <a:rPr lang="en-US" sz="2400" b="1" dirty="0">
                <a:latin typeface="Times New Roman" panose="02020603050405020304" pitchFamily="18" charset="0"/>
                <a:cs typeface="Times New Roman" panose="02020603050405020304" pitchFamily="18" charset="0"/>
              </a:rPr>
              <a:t>PLACES_VISITED:</a:t>
            </a:r>
            <a:r>
              <a:rPr lang="en-US" sz="2400" dirty="0">
                <a:latin typeface="Times New Roman" panose="02020603050405020304" pitchFamily="18" charset="0"/>
                <a:cs typeface="Times New Roman" panose="02020603050405020304" pitchFamily="18" charset="0"/>
              </a:rPr>
              <a:t> Represents exposure to new experiences.</a:t>
            </a:r>
          </a:p>
          <a:p>
            <a:r>
              <a:rPr lang="en-US" sz="2400" b="1" dirty="0">
                <a:latin typeface="Times New Roman" panose="02020603050405020304" pitchFamily="18" charset="0"/>
                <a:cs typeface="Times New Roman" panose="02020603050405020304" pitchFamily="18" charset="0"/>
              </a:rPr>
              <a:t>WEEKLY_MEDITATION:</a:t>
            </a:r>
            <a:r>
              <a:rPr lang="en-US" sz="2400" dirty="0">
                <a:latin typeface="Times New Roman" panose="02020603050405020304" pitchFamily="18" charset="0"/>
                <a:cs typeface="Times New Roman" panose="02020603050405020304" pitchFamily="18" charset="0"/>
              </a:rPr>
              <a:t> Confirms the importance of mindfulness habits.</a:t>
            </a:r>
          </a:p>
          <a:p>
            <a:r>
              <a:rPr lang="en-US" sz="2400" b="1" dirty="0">
                <a:latin typeface="Times New Roman" panose="02020603050405020304" pitchFamily="18" charset="0"/>
                <a:cs typeface="Times New Roman" panose="02020603050405020304" pitchFamily="18" charset="0"/>
              </a:rPr>
              <a:t>LIVE_VISION:</a:t>
            </a:r>
            <a:r>
              <a:rPr lang="en-US" sz="2400" dirty="0">
                <a:latin typeface="Times New Roman" panose="02020603050405020304" pitchFamily="18" charset="0"/>
                <a:cs typeface="Times New Roman" panose="02020603050405020304" pitchFamily="18" charset="0"/>
              </a:rPr>
              <a:t> Strong indicator of purpose and goals.</a:t>
            </a:r>
          </a:p>
          <a:p>
            <a:endParaRPr lang="en-IN" dirty="0"/>
          </a:p>
        </p:txBody>
      </p:sp>
      <p:sp>
        <p:nvSpPr>
          <p:cNvPr id="9" name="TextBox 8">
            <a:extLst>
              <a:ext uri="{FF2B5EF4-FFF2-40B4-BE49-F238E27FC236}">
                <a16:creationId xmlns:a16="http://schemas.microsoft.com/office/drawing/2014/main" id="{53F92554-4D83-73BB-84B5-DE2590112072}"/>
              </a:ext>
            </a:extLst>
          </p:cNvPr>
          <p:cNvSpPr txBox="1"/>
          <p:nvPr/>
        </p:nvSpPr>
        <p:spPr>
          <a:xfrm>
            <a:off x="6750121" y="1796807"/>
            <a:ext cx="5051461" cy="332398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Negative Predictors</a:t>
            </a:r>
          </a:p>
          <a:p>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These factors strongly detract from the work-life balance score:</a:t>
            </a:r>
          </a:p>
          <a:p>
            <a:r>
              <a:rPr lang="en-US" sz="2400" b="1" dirty="0">
                <a:latin typeface="Times New Roman" panose="02020603050405020304" pitchFamily="18" charset="0"/>
                <a:cs typeface="Times New Roman" panose="02020603050405020304" pitchFamily="18" charset="0"/>
              </a:rPr>
              <a:t>LOST_VACATION:</a:t>
            </a:r>
            <a:r>
              <a:rPr lang="en-US" sz="2400" dirty="0">
                <a:latin typeface="Times New Roman" panose="02020603050405020304" pitchFamily="18" charset="0"/>
                <a:cs typeface="Times New Roman" panose="02020603050405020304" pitchFamily="18" charset="0"/>
              </a:rPr>
              <a:t> Indicates stress and lack of rest.</a:t>
            </a:r>
          </a:p>
          <a:p>
            <a:r>
              <a:rPr lang="en-US" sz="2400" b="1" dirty="0">
                <a:latin typeface="Times New Roman" panose="02020603050405020304" pitchFamily="18" charset="0"/>
                <a:cs typeface="Times New Roman" panose="02020603050405020304" pitchFamily="18" charset="0"/>
              </a:rPr>
              <a:t>DAILY_SHOUTING:</a:t>
            </a:r>
            <a:r>
              <a:rPr lang="en-US" sz="2400" dirty="0">
                <a:latin typeface="Times New Roman" panose="02020603050405020304" pitchFamily="18" charset="0"/>
                <a:cs typeface="Times New Roman" panose="02020603050405020304" pitchFamily="18" charset="0"/>
              </a:rPr>
              <a:t> Signifies a strained emotional environment.</a:t>
            </a:r>
          </a:p>
          <a:p>
            <a:endParaRPr lang="en-IN" dirty="0"/>
          </a:p>
        </p:txBody>
      </p:sp>
    </p:spTree>
    <p:extLst>
      <p:ext uri="{BB962C8B-B14F-4D97-AF65-F5344CB8AC3E}">
        <p14:creationId xmlns:p14="http://schemas.microsoft.com/office/powerpoint/2010/main" val="1458633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B396-3893-6466-8657-ED211C7909C1}"/>
              </a:ext>
            </a:extLst>
          </p:cNvPr>
          <p:cNvSpPr>
            <a:spLocks noGrp="1"/>
          </p:cNvSpPr>
          <p:nvPr>
            <p:ph type="title"/>
          </p:nvPr>
        </p:nvSpPr>
        <p:spPr/>
        <p:txBody>
          <a:bodyPr>
            <a:noAutofit/>
          </a:bodyPr>
          <a:lstStyle/>
          <a:p>
            <a:r>
              <a:rPr lang="en-US" sz="4000" b="1" u="sng" dirty="0">
                <a:solidFill>
                  <a:schemeClr val="accent6">
                    <a:lumMod val="50000"/>
                  </a:schemeClr>
                </a:solidFill>
                <a:latin typeface="Times New Roman" panose="02020603050405020304" pitchFamily="18" charset="0"/>
                <a:cs typeface="Times New Roman" panose="02020603050405020304" pitchFamily="18" charset="0"/>
              </a:rPr>
              <a:t>Clustering Results: Identified Lifestyle Profiles (K=3)</a:t>
            </a:r>
            <a:br>
              <a:rPr lang="en-US" sz="4000" b="1" u="sng" dirty="0">
                <a:solidFill>
                  <a:schemeClr val="accent6">
                    <a:lumMod val="50000"/>
                  </a:schemeClr>
                </a:solidFill>
                <a:latin typeface="Times New Roman" panose="02020603050405020304" pitchFamily="18" charset="0"/>
                <a:cs typeface="Times New Roman" panose="02020603050405020304" pitchFamily="18" charset="0"/>
              </a:rPr>
            </a:br>
            <a:endParaRPr lang="en-IN" sz="4000" u="sng" dirty="0">
              <a:solidFill>
                <a:schemeClr val="accent6">
                  <a:lumMod val="50000"/>
                </a:schemeClr>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DE98907B-F396-F530-43F0-2FD0E2EFB35A}"/>
              </a:ext>
            </a:extLst>
          </p:cNvPr>
          <p:cNvGraphicFramePr/>
          <p:nvPr>
            <p:extLst>
              <p:ext uri="{D42A27DB-BD31-4B8C-83A1-F6EECF244321}">
                <p14:modId xmlns:p14="http://schemas.microsoft.com/office/powerpoint/2010/main" val="849638988"/>
              </p:ext>
            </p:extLst>
          </p:nvPr>
        </p:nvGraphicFramePr>
        <p:xfrm>
          <a:off x="-392701" y="1151181"/>
          <a:ext cx="81280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E571EAAF-633C-37CE-56BF-056B256B1A77}"/>
              </a:ext>
            </a:extLst>
          </p:cNvPr>
          <p:cNvSpPr txBox="1"/>
          <p:nvPr/>
        </p:nvSpPr>
        <p:spPr>
          <a:xfrm>
            <a:off x="6328881" y="3119285"/>
            <a:ext cx="5311310" cy="1482457"/>
          </a:xfrm>
          <a:prstGeom prst="rect">
            <a:avLst/>
          </a:prstGeom>
          <a:noFill/>
        </p:spPr>
        <p:txBody>
          <a:bodyPr wrap="square">
            <a:spAutoFit/>
          </a:bodyPr>
          <a:lstStyle/>
          <a:p>
            <a:pPr algn="ctr">
              <a:spcAft>
                <a:spcPts val="1125"/>
              </a:spcAft>
              <a:buNone/>
            </a:pPr>
            <a:r>
              <a:rPr lang="en-US" sz="2400" i="0" dirty="0">
                <a:solidFill>
                  <a:schemeClr val="tx1">
                    <a:lumMod val="95000"/>
                    <a:lumOff val="5000"/>
                  </a:schemeClr>
                </a:solidFill>
                <a:effectLst/>
                <a:latin typeface="Times New Roman" panose="02020603050405020304" pitchFamily="18" charset="0"/>
                <a:cs typeface="Times New Roman" panose="02020603050405020304" pitchFamily="18" charset="0"/>
              </a:rPr>
              <a:t>Cluster 0 6,813 Individuals</a:t>
            </a:r>
            <a:endParaRPr lang="en-US" sz="24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spcAft>
                <a:spcPts val="1125"/>
              </a:spcAft>
            </a:pPr>
            <a:r>
              <a:rPr lang="en-US" sz="2400" i="0" dirty="0">
                <a:solidFill>
                  <a:schemeClr val="tx1">
                    <a:lumMod val="95000"/>
                    <a:lumOff val="5000"/>
                  </a:schemeClr>
                </a:solidFill>
                <a:effectLst/>
                <a:latin typeface="Times New Roman" panose="02020603050405020304" pitchFamily="18" charset="0"/>
                <a:cs typeface="Times New Roman" panose="02020603050405020304" pitchFamily="18" charset="0"/>
              </a:rPr>
              <a:t>Cluster 2 4,895 Individuals</a:t>
            </a:r>
          </a:p>
          <a:p>
            <a:pPr algn="ctr">
              <a:spcAft>
                <a:spcPts val="1125"/>
              </a:spcAft>
              <a:buNone/>
            </a:pPr>
            <a:r>
              <a:rPr lang="en-US" sz="2400" i="0" dirty="0">
                <a:solidFill>
                  <a:schemeClr val="tx1">
                    <a:lumMod val="95000"/>
                    <a:lumOff val="5000"/>
                  </a:schemeClr>
                </a:solidFill>
                <a:effectLst/>
                <a:latin typeface="Times New Roman" panose="02020603050405020304" pitchFamily="18" charset="0"/>
                <a:cs typeface="Times New Roman" panose="02020603050405020304" pitchFamily="18" charset="0"/>
              </a:rPr>
              <a:t>Cluster 1 4,264 Individuals</a:t>
            </a:r>
          </a:p>
        </p:txBody>
      </p:sp>
      <p:sp>
        <p:nvSpPr>
          <p:cNvPr id="10" name="Rectangle: Beveled 9">
            <a:extLst>
              <a:ext uri="{FF2B5EF4-FFF2-40B4-BE49-F238E27FC236}">
                <a16:creationId xmlns:a16="http://schemas.microsoft.com/office/drawing/2014/main" id="{D8E8E9A6-17C9-B085-B88D-7B97258E6B1C}"/>
              </a:ext>
            </a:extLst>
          </p:cNvPr>
          <p:cNvSpPr/>
          <p:nvPr/>
        </p:nvSpPr>
        <p:spPr>
          <a:xfrm>
            <a:off x="6955604" y="3182420"/>
            <a:ext cx="297951" cy="246580"/>
          </a:xfrm>
          <a:prstGeom prst="beve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Beveled 10">
            <a:extLst>
              <a:ext uri="{FF2B5EF4-FFF2-40B4-BE49-F238E27FC236}">
                <a16:creationId xmlns:a16="http://schemas.microsoft.com/office/drawing/2014/main" id="{3C980D4F-864A-F96F-FB05-CA3E3EBB1F6E}"/>
              </a:ext>
            </a:extLst>
          </p:cNvPr>
          <p:cNvSpPr/>
          <p:nvPr/>
        </p:nvSpPr>
        <p:spPr>
          <a:xfrm>
            <a:off x="6955604" y="3729519"/>
            <a:ext cx="297951" cy="246580"/>
          </a:xfrm>
          <a:prstGeom prst="bevel">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0292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1CA7A-A6E2-B103-BFA0-FFDF8AFA851C}"/>
              </a:ext>
            </a:extLst>
          </p:cNvPr>
          <p:cNvSpPr>
            <a:spLocks noGrp="1"/>
          </p:cNvSpPr>
          <p:nvPr>
            <p:ph type="title"/>
          </p:nvPr>
        </p:nvSpPr>
        <p:spPr/>
        <p:txBody>
          <a:bodyPr>
            <a:normAutofit/>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Cluster Visualization:</a:t>
            </a:r>
          </a:p>
        </p:txBody>
      </p:sp>
      <p:pic>
        <p:nvPicPr>
          <p:cNvPr id="5" name="Content Placeholder 4">
            <a:extLst>
              <a:ext uri="{FF2B5EF4-FFF2-40B4-BE49-F238E27FC236}">
                <a16:creationId xmlns:a16="http://schemas.microsoft.com/office/drawing/2014/main" id="{EA9D308B-8F20-26F8-C156-913B3FB8EA5B}"/>
              </a:ext>
            </a:extLst>
          </p:cNvPr>
          <p:cNvPicPr>
            <a:picLocks noGrp="1" noChangeAspect="1"/>
          </p:cNvPicPr>
          <p:nvPr>
            <p:ph idx="1"/>
          </p:nvPr>
        </p:nvPicPr>
        <p:blipFill>
          <a:blip r:embed="rId2"/>
          <a:stretch>
            <a:fillRect/>
          </a:stretch>
        </p:blipFill>
        <p:spPr>
          <a:xfrm>
            <a:off x="2208944" y="1915157"/>
            <a:ext cx="8085762" cy="4228396"/>
          </a:xfrm>
          <a:prstGeom prst="rect">
            <a:avLst/>
          </a:prstGeom>
        </p:spPr>
      </p:pic>
    </p:spTree>
    <p:extLst>
      <p:ext uri="{BB962C8B-B14F-4D97-AF65-F5344CB8AC3E}">
        <p14:creationId xmlns:p14="http://schemas.microsoft.com/office/powerpoint/2010/main" val="1080156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0FFDE-E085-31C8-63EF-97C9995EB20A}"/>
              </a:ext>
            </a:extLst>
          </p:cNvPr>
          <p:cNvSpPr>
            <a:spLocks noGrp="1"/>
          </p:cNvSpPr>
          <p:nvPr>
            <p:ph type="title"/>
          </p:nvPr>
        </p:nvSpPr>
        <p:spPr/>
        <p:txBody>
          <a:bodyPr>
            <a:normAutofit/>
          </a:bodyPr>
          <a:lstStyle/>
          <a:p>
            <a:r>
              <a:rPr lang="en-IN" sz="4000" b="1" u="sng" dirty="0">
                <a:solidFill>
                  <a:schemeClr val="accent6">
                    <a:lumMod val="50000"/>
                  </a:schemeClr>
                </a:solidFill>
                <a:latin typeface="Times New Roman" panose="02020603050405020304" pitchFamily="18" charset="0"/>
                <a:cs typeface="Times New Roman" panose="02020603050405020304" pitchFamily="18" charset="0"/>
              </a:rPr>
              <a:t>Cluster Interpretation:</a:t>
            </a:r>
            <a:br>
              <a:rPr lang="en-IN" sz="4000" b="1" u="sng" dirty="0">
                <a:solidFill>
                  <a:schemeClr val="accent6">
                    <a:lumMod val="50000"/>
                  </a:schemeClr>
                </a:solidFill>
                <a:latin typeface="Times New Roman" panose="02020603050405020304" pitchFamily="18" charset="0"/>
                <a:cs typeface="Times New Roman" panose="02020603050405020304" pitchFamily="18" charset="0"/>
              </a:rPr>
            </a:br>
            <a:endParaRPr lang="en-IN" sz="4000" b="1" u="sng" dirty="0">
              <a:solidFill>
                <a:schemeClr val="accent6">
                  <a:lumMod val="50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581A251-FB0B-5D9E-8667-F72203D266B6}"/>
              </a:ext>
            </a:extLst>
          </p:cNvPr>
          <p:cNvSpPr txBox="1"/>
          <p:nvPr/>
        </p:nvSpPr>
        <p:spPr>
          <a:xfrm>
            <a:off x="673814" y="2004137"/>
            <a:ext cx="10515600" cy="3903633"/>
          </a:xfrm>
          <a:prstGeom prst="rect">
            <a:avLst/>
          </a:prstGeom>
          <a:noFill/>
        </p:spPr>
        <p:txBody>
          <a:bodyPr wrap="square">
            <a:spAutoFit/>
          </a:bodyPr>
          <a:lstStyle/>
          <a:p>
            <a:pPr algn="l">
              <a:spcAft>
                <a:spcPts val="1875"/>
              </a:spcAft>
            </a:pPr>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Cluster 0 (Balanced and Active):</a:t>
            </a: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Represents individuals with relatively higher physical activity, good social engagement, and fewer stress indicators. This group aligns with high overall wellbeing.</a:t>
            </a:r>
          </a:p>
          <a:p>
            <a:pPr algn="l">
              <a:spcAft>
                <a:spcPts val="1875"/>
              </a:spcAft>
            </a:pPr>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Cluster 1 (High-Achievement/Lower Rest):</a:t>
            </a: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These individuals tend to show strong achievement but report more lost vacation days, suggesting possible work overload and a challenge in maintaining balance despite high drive.</a:t>
            </a:r>
          </a:p>
          <a:p>
            <a:pPr algn="l">
              <a:spcAft>
                <a:spcPts val="1875"/>
              </a:spcAft>
            </a:pPr>
            <a:r>
              <a:rPr lang="en-US" sz="2400" b="1" i="0" dirty="0">
                <a:solidFill>
                  <a:schemeClr val="tx1">
                    <a:lumMod val="95000"/>
                    <a:lumOff val="5000"/>
                  </a:schemeClr>
                </a:solidFill>
                <a:effectLst/>
                <a:latin typeface="Times New Roman" panose="02020603050405020304" pitchFamily="18" charset="0"/>
                <a:cs typeface="Times New Roman" panose="02020603050405020304" pitchFamily="18" charset="0"/>
              </a:rPr>
              <a:t>Cluster 2 (Low-Engagement/Higher Stress):</a:t>
            </a:r>
            <a:r>
              <a:rPr lang="en-US" sz="2400" b="0" i="0" dirty="0">
                <a:solidFill>
                  <a:schemeClr val="tx1">
                    <a:lumMod val="95000"/>
                    <a:lumOff val="5000"/>
                  </a:schemeClr>
                </a:solidFill>
                <a:effectLst/>
                <a:latin typeface="Times New Roman" panose="02020603050405020304" pitchFamily="18" charset="0"/>
                <a:cs typeface="Times New Roman" panose="02020603050405020304" pitchFamily="18" charset="0"/>
              </a:rPr>
              <a:t> Characterized by lower activity, lower purpose-driven variables, and higher shouting frequency. This profile strongly aligns with lower wellbeing patterns.</a:t>
            </a:r>
          </a:p>
        </p:txBody>
      </p:sp>
    </p:spTree>
    <p:extLst>
      <p:ext uri="{BB962C8B-B14F-4D97-AF65-F5344CB8AC3E}">
        <p14:creationId xmlns:p14="http://schemas.microsoft.com/office/powerpoint/2010/main" val="388308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9E14D-7426-72BC-68D9-95BD160D5F4A}"/>
              </a:ext>
            </a:extLst>
          </p:cNvPr>
          <p:cNvSpPr>
            <a:spLocks noGrp="1"/>
          </p:cNvSpPr>
          <p:nvPr>
            <p:ph type="title"/>
          </p:nvPr>
        </p:nvSpPr>
        <p:spPr/>
        <p:txBody>
          <a:bodyPr>
            <a:normAutofit/>
          </a:bodyPr>
          <a:lstStyle/>
          <a:p>
            <a:r>
              <a:rPr lang="en-US" b="1" i="0" u="sng" dirty="0">
                <a:solidFill>
                  <a:srgbClr val="005088"/>
                </a:solidFill>
                <a:effectLst/>
                <a:latin typeface="Times New Roman" panose="02020603050405020304" pitchFamily="18" charset="0"/>
                <a:cs typeface="Times New Roman" panose="02020603050405020304" pitchFamily="18" charset="0"/>
              </a:rPr>
              <a:t>Conclusion: Key Analytical Takeaways</a:t>
            </a:r>
            <a:br>
              <a:rPr lang="en-US" b="1" i="0" dirty="0">
                <a:solidFill>
                  <a:srgbClr val="005088"/>
                </a:solidFill>
                <a:effectLst/>
                <a:latin typeface="Merriweather" panose="00000500000000000000" pitchFamily="2" charset="0"/>
              </a:rPr>
            </a:br>
            <a:endParaRPr lang="en-IN" dirty="0"/>
          </a:p>
        </p:txBody>
      </p:sp>
      <p:sp>
        <p:nvSpPr>
          <p:cNvPr id="5" name="TextBox 4">
            <a:extLst>
              <a:ext uri="{FF2B5EF4-FFF2-40B4-BE49-F238E27FC236}">
                <a16:creationId xmlns:a16="http://schemas.microsoft.com/office/drawing/2014/main" id="{104BB506-DC67-17B4-3128-45CB930D4D3C}"/>
              </a:ext>
            </a:extLst>
          </p:cNvPr>
          <p:cNvSpPr txBox="1"/>
          <p:nvPr/>
        </p:nvSpPr>
        <p:spPr>
          <a:xfrm>
            <a:off x="838200" y="1280445"/>
            <a:ext cx="10515599" cy="4760278"/>
          </a:xfrm>
          <a:prstGeom prst="rect">
            <a:avLst/>
          </a:prstGeom>
          <a:noFill/>
        </p:spPr>
        <p:txBody>
          <a:bodyPr wrap="square">
            <a:spAutoFit/>
          </a:bodyPr>
          <a:lstStyle/>
          <a:p>
            <a:pPr algn="l">
              <a:spcAft>
                <a:spcPts val="1875"/>
              </a:spcAft>
            </a:pPr>
            <a:r>
              <a:rPr lang="en-US" sz="2400" b="0" i="0" dirty="0">
                <a:solidFill>
                  <a:srgbClr val="333333"/>
                </a:solidFill>
                <a:effectLst/>
                <a:latin typeface="Times New Roman" panose="02020603050405020304" pitchFamily="18" charset="0"/>
                <a:cs typeface="Times New Roman" panose="02020603050405020304" pitchFamily="18" charset="0"/>
              </a:rPr>
              <a:t>Lifestyle and wellbeing variables form distinct behavioral dimensions, with Purpose/Achievement being the strongest.</a:t>
            </a:r>
          </a:p>
          <a:p>
            <a:pPr algn="l">
              <a:spcAft>
                <a:spcPts val="1875"/>
              </a:spcAft>
            </a:pPr>
            <a:r>
              <a:rPr lang="en-US" sz="2400" b="0" i="0" dirty="0">
                <a:solidFill>
                  <a:srgbClr val="333333"/>
                </a:solidFill>
                <a:effectLst/>
                <a:latin typeface="Times New Roman" panose="02020603050405020304" pitchFamily="18" charset="0"/>
                <a:cs typeface="Times New Roman" panose="02020603050405020304" pitchFamily="18" charset="0"/>
              </a:rPr>
              <a:t>Work-life balance is highly predictable from lifestyle and demographic indicators (R^2 = 0.956).</a:t>
            </a:r>
          </a:p>
          <a:p>
            <a:pPr algn="l">
              <a:spcAft>
                <a:spcPts val="1875"/>
              </a:spcAft>
            </a:pPr>
            <a:r>
              <a:rPr lang="en-US" sz="2400" b="0" i="0" dirty="0">
                <a:solidFill>
                  <a:srgbClr val="333333"/>
                </a:solidFill>
                <a:effectLst/>
                <a:latin typeface="Times New Roman" panose="02020603050405020304" pitchFamily="18" charset="0"/>
                <a:cs typeface="Times New Roman" panose="02020603050405020304" pitchFamily="18" charset="0"/>
              </a:rPr>
              <a:t>Purpose-driven (LIVE_VISION) and active habits (DAILY_STEPS) strongly improve wellbeing.</a:t>
            </a:r>
          </a:p>
          <a:p>
            <a:pPr algn="l">
              <a:spcAft>
                <a:spcPts val="1875"/>
              </a:spcAft>
            </a:pPr>
            <a:r>
              <a:rPr lang="en-US" sz="2400" b="0" i="0" dirty="0">
                <a:solidFill>
                  <a:srgbClr val="333333"/>
                </a:solidFill>
                <a:effectLst/>
                <a:latin typeface="Times New Roman" panose="02020603050405020304" pitchFamily="18" charset="0"/>
                <a:cs typeface="Times New Roman" panose="02020603050405020304" pitchFamily="18" charset="0"/>
              </a:rPr>
              <a:t>Stress-related variables (LOST_VACATION, DAILY_SHOUTING) are the most significant detractors of wellbeing.</a:t>
            </a:r>
          </a:p>
          <a:p>
            <a:pPr algn="l">
              <a:spcAft>
                <a:spcPts val="1875"/>
              </a:spcAft>
            </a:pPr>
            <a:r>
              <a:rPr lang="en-US" sz="2400" b="0" i="0" dirty="0">
                <a:solidFill>
                  <a:srgbClr val="333333"/>
                </a:solidFill>
                <a:effectLst/>
                <a:latin typeface="Times New Roman" panose="02020603050405020304" pitchFamily="18" charset="0"/>
                <a:cs typeface="Times New Roman" panose="02020603050405020304" pitchFamily="18" charset="0"/>
              </a:rPr>
              <a:t>Adults naturally group into three meaningful lifestyle clusters, confirming that targeted intervention strategies are possible.</a:t>
            </a:r>
          </a:p>
        </p:txBody>
      </p:sp>
    </p:spTree>
    <p:extLst>
      <p:ext uri="{BB962C8B-B14F-4D97-AF65-F5344CB8AC3E}">
        <p14:creationId xmlns:p14="http://schemas.microsoft.com/office/powerpoint/2010/main" val="3773071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48DF4-AC79-273C-AA34-717251473915}"/>
              </a:ext>
            </a:extLst>
          </p:cNvPr>
          <p:cNvSpPr>
            <a:spLocks noGrp="1"/>
          </p:cNvSpPr>
          <p:nvPr>
            <p:ph type="title"/>
          </p:nvPr>
        </p:nvSpPr>
        <p:spPr>
          <a:xfrm>
            <a:off x="838200" y="1577475"/>
            <a:ext cx="10515600" cy="1325563"/>
          </a:xfrm>
        </p:spPr>
        <p:txBody>
          <a:bodyPr>
            <a:normAutofit/>
          </a:bodyPr>
          <a:lstStyle/>
          <a:p>
            <a:pPr algn="ctr"/>
            <a:r>
              <a:rPr lang="en-IN" sz="4000" b="1" u="sng" dirty="0">
                <a:solidFill>
                  <a:schemeClr val="accent6">
                    <a:lumMod val="50000"/>
                  </a:schemeClr>
                </a:solidFill>
                <a:latin typeface="Times New Roman" panose="02020603050405020304" pitchFamily="18" charset="0"/>
                <a:cs typeface="Times New Roman" panose="02020603050405020304" pitchFamily="18" charset="0"/>
              </a:rPr>
              <a:t>THANK YOU</a:t>
            </a:r>
          </a:p>
        </p:txBody>
      </p:sp>
      <p:sp>
        <p:nvSpPr>
          <p:cNvPr id="5" name="TextBox 4">
            <a:extLst>
              <a:ext uri="{FF2B5EF4-FFF2-40B4-BE49-F238E27FC236}">
                <a16:creationId xmlns:a16="http://schemas.microsoft.com/office/drawing/2014/main" id="{AAA27033-B72F-C40B-CF5A-07B545EF57E2}"/>
              </a:ext>
            </a:extLst>
          </p:cNvPr>
          <p:cNvSpPr txBox="1"/>
          <p:nvPr/>
        </p:nvSpPr>
        <p:spPr>
          <a:xfrm>
            <a:off x="3048856" y="3246902"/>
            <a:ext cx="6097712" cy="707886"/>
          </a:xfrm>
          <a:prstGeom prst="rect">
            <a:avLst/>
          </a:prstGeom>
          <a:noFill/>
        </p:spPr>
        <p:txBody>
          <a:bodyPr wrap="square">
            <a:spAutoFit/>
          </a:bodyPr>
          <a:lstStyle/>
          <a:p>
            <a:pPr algn="ctr">
              <a:spcAft>
                <a:spcPts val="1500"/>
              </a:spcAft>
              <a:buNone/>
            </a:pPr>
            <a:r>
              <a:rPr lang="en-IN" sz="4000" b="1" i="0" u="sng" dirty="0">
                <a:solidFill>
                  <a:schemeClr val="accent6">
                    <a:lumMod val="50000"/>
                  </a:schemeClr>
                </a:solidFill>
                <a:effectLst/>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989433559"/>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999</Words>
  <Application>Microsoft Office PowerPoint</Application>
  <PresentationFormat>Widescreen</PresentationFormat>
  <Paragraphs>107</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Merriweather</vt:lpstr>
      <vt:lpstr>Times New Roman</vt:lpstr>
      <vt:lpstr>Office Theme</vt:lpstr>
      <vt:lpstr>PowerPoint Presentation</vt:lpstr>
      <vt:lpstr>Research Question:</vt:lpstr>
      <vt:lpstr>Guiding Framework: </vt:lpstr>
      <vt:lpstr>Dataset:</vt:lpstr>
      <vt:lpstr>Data Cleaning and Preparation: </vt:lpstr>
      <vt:lpstr>EDA: Demographic Distributions: </vt:lpstr>
      <vt:lpstr>EDA: Demographic Distributions: </vt:lpstr>
      <vt:lpstr>EDA: Feature Distributions </vt:lpstr>
      <vt:lpstr>EDA: Feature Distributions</vt:lpstr>
      <vt:lpstr>EDA: Correlation Analysis </vt:lpstr>
      <vt:lpstr>EDA: Correlation Analysis </vt:lpstr>
      <vt:lpstr>Variables Used:</vt:lpstr>
      <vt:lpstr>Principal Component Analysis: Explained Variance: </vt:lpstr>
      <vt:lpstr>Principal Component Analysis: Explained Variance: </vt:lpstr>
      <vt:lpstr>Regression Model Results: </vt:lpstr>
      <vt:lpstr>Regression: Most Influential Predictors </vt:lpstr>
      <vt:lpstr>Clustering Results: Identified Lifestyle Profiles (K=3) </vt:lpstr>
      <vt:lpstr>Cluster Visualization:</vt:lpstr>
      <vt:lpstr>Cluster Interpretation: </vt:lpstr>
      <vt:lpstr>Conclusion: Key Analytical Takeaways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monica kommareddy</dc:creator>
  <cp:lastModifiedBy>monica kommareddy</cp:lastModifiedBy>
  <cp:revision>1</cp:revision>
  <dcterms:created xsi:type="dcterms:W3CDTF">2025-11-19T02:35:50Z</dcterms:created>
  <dcterms:modified xsi:type="dcterms:W3CDTF">2025-11-19T02:43:51Z</dcterms:modified>
</cp:coreProperties>
</file>